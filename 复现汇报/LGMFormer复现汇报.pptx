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22" Type="http://schemas.openxmlformats.org/officeDocument/2006/relationships/tableStyles" Target="tableStyles.xml" /><Relationship Id="rId19" Type="http://schemas.openxmlformats.org/officeDocument/2006/relationships/slide" Target="slides/slide19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20" Type="http://schemas.openxmlformats.org/officeDocument/2006/relationships/notesMaster" Target="notesMasters/notesMaster1.xml" /><Relationship Id="rId7" Type="http://schemas.openxmlformats.org/officeDocument/2006/relationships/slide" Target="slides/slide7.xml" /><Relationship Id="rId21" Type="http://schemas.openxmlformats.org/officeDocument/2006/relationships/presProps" Target="presProps.xml" /><Relationship Id="rId8" Type="http://schemas.openxmlformats.org/officeDocument/2006/relationships/slide" Target="slides/slide8.xml" /><Relationship Id="rId23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FFFFF', position: 'relative', overflow: 'hidden', fontFamily: '思源黑体, Microsoft YaHei, sans-serif' }}&gt;&#10;    {/* 右侧深蓝侧栏 */}&#10;    &lt;Box style={{ position: 'absolute', top: 0, right: 0, width: 470, height: 720, background: '#0E3F8C' }} /&gt;&#10;    {/* 侧栏内嵌训练曲线图（低透明） */}&#10;    &lt;Image src=&quot;assets/training_curves.png&quot; style={{ position: 'absolute', top: 120, right: 35, width: 400, height: 250, objectFit: 'cover', borderRadius: 8, opacity: 0.85 }} /&gt;&#10;    &lt;Box style={{ position: 'absolute', top: 400, right: 35, width: 400 }}&gt;&#10;        &lt;Text style={{ fontSize: 15, color: '#B9CBE8', lineHeight: 1.7 }}&gt;&#10;            上图：11 次实验的验证集 MAE / RMSE 收敛曲线&#10;        &lt;/Text&gt;&#10;        &lt;Box style={{ height: 14 }} /&gt;&#10;        &lt;Text style={{ fontSize: 17, color: '#FFFFFF', fontWeight: 'bold', lineHeight: 1.6 }}&gt;&#10;            论文宣称 MAE 3.22 / mIoU 90.2%&#10;        &lt;/Text&gt;&#10;        &lt;Text style={{ fontSize: 17, color: '#FFC107', fontWeight: 'bold', lineHeight: 1.6 }}&gt;&#10;            本次复现最佳 MAE 5.458（↓18.1%）&#10;        &lt;/Text&gt;&#10;    &lt;/Box&gt;&#10;&#10;    {/* 左上角编号标识 */}&#10;    &lt;Box style={{ position: 'absolute', top: 60, left: 60, flexDirection: 'row', alignItems: 'center', gap: 12 }}&gt;&#10;        &lt;Box style={{ width: 6, height: 26, background: '#1E4FA8' }} /&gt;&#10;        &lt;Text style={{ fontSize: 17, color: '#4A5568', letterSpacing: 2 }}&gt;论文复现汇报 · 2026.10&lt;/Text&gt;&#10;    &lt;/Box&gt;&#10;&#10;    {/* 左侧主标题区 */}&#10;    &lt;Box style={{ position: 'absolute', top: 175, left: 60, width: 700 }}&gt;&#10;        &lt;Text style={{ fontSize: 66, fontWeight: 'bold', color: '#0E3F8C', lineHeight: 1.22 }}&gt;&#10;            LGMFormer 声呐鱼群&#10;            &lt;br /&gt;&#10;            计数论文复现&#10;        &lt;/Text&gt;&#10;        &lt;Box style={{ height: 26 }} /&gt;&#10;        &lt;Text style={{ fontSize: 19, color: '#1E4FA8', fontFamily: 'Times New Roman, serif', lineHeight: 1.55 }}&gt;&#10;            Enhancing Fish Counting in Sonar Images With Multitask&#10;            &lt;br /&gt;&#10;            Learning and Local-Global Feature Interaction&#10;        &lt;/Text&gt;&#10;        &lt;Box style={{ height: 30 }} /&gt;&#10;        &lt;Box style={{ width: 90, height: 4, background: '#1E4FA8' }} /&gt;&#10;        &lt;Box style={{ height: 26 }} /&gt;&#10;        &lt;Text style={{ fontSize: 21, color: '#1A2230', lineHeight: 1.75 }}&gt;&#10;            两天 11 次完整训练实验 ｜ 论文方法全部模块自实现&#10;            &lt;br /&gt;&#10;            核心方法测试 MAE &lt;span style={{ fontWeight: 'bold', color: '#D9534F' }}&gt;降低 18.1%&lt;/span&gt;，与论文宣称收益量级吻合&#10;        &lt;/Text&gt;&#10;    &lt;/Box&gt;&#10;&#10;    {/* 页脚信息 */}&#10;    &lt;Box style={{ position: 'absolute', bottom: 52, left: 60, flexDirection: 'row', gap: 40 }}&gt;&#10;        &lt;Text style={{ fontSize: 16, color: '#4A5568' }}&gt;汇报人：研究生&lt;/Text&gt;&#10;        &lt;Text style={{ fontSize: 16, color: '#4A5568' }}&gt;数据：ARIS 声呐数据集（500 张）&lt;/Text&gt;&#10;        &lt;Text style={{ fontSize: 16, color: '#4A5568' }}&gt;2026 年 10 月 15 日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715250" y="0"/>
            <a:ext cx="44767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1">
            <a:alphaModFix amt="85000"/>
          </a:blip>
          <a:srcRect l="20461" t="0" r="20461" b="0"/>
          <a:stretch>
            <a:fillRect/>
          </a:stretch>
        </p:blipFill>
        <p:spPr>
          <a:xfrm rot="0" flipH="0" flipV="0">
            <a:off x="8048625" y="1143000"/>
            <a:ext cx="3810000" cy="2381250"/>
          </a:xfrm>
          <a:prstGeom prst="roundRect">
            <a:avLst>
              <a:gd name="adj" fmla="val 3200"/>
            </a:avLst>
          </a:prstGeom>
          <a:ln/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048625" y="3810000"/>
            <a:ext cx="38100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B9CBE8"/>
                </a:solidFill>
                <a:latin typeface="思源黑体"/>
                <a:ea typeface="思源黑体"/>
              </a:rPr>
              <a:t>上图：</a:t>
            </a:r>
            <a:r>
              <a:rPr lang="en-US" sz="1125">
                <a:solidFill>
                  <a:srgbClr val="B9CBE8"/>
                </a:solidFill>
                <a:latin typeface="思源黑体"/>
                <a:ea typeface="思源黑体"/>
              </a:rPr>
              <a:t xml:space="preserve">11 </a:t>
            </a:r>
            <a:r>
              <a:rPr lang="zh-CN" sz="1125">
                <a:solidFill>
                  <a:srgbClr val="B9CBE8"/>
                </a:solidFill>
                <a:latin typeface="思源黑体"/>
                <a:ea typeface="思源黑体"/>
              </a:rPr>
              <a:t>次实验的验证集</a:t>
            </a:r>
            <a:r>
              <a:rPr lang="en-US" sz="1125">
                <a:solidFill>
                  <a:srgbClr val="B9CBE8"/>
                </a:solidFill>
                <a:latin typeface="思源黑体"/>
                <a:ea typeface="思源黑体"/>
              </a:rPr>
              <a:t xml:space="preserve"> MAE / RMSE </a:t>
            </a:r>
            <a:r>
              <a:rPr lang="zh-CN" sz="1125">
                <a:solidFill>
                  <a:srgbClr val="B9CBE8"/>
                </a:solidFill>
                <a:latin typeface="思源黑体"/>
                <a:ea typeface="思源黑体"/>
              </a:rPr>
              <a:t>收敛曲线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048625" y="4238625"/>
            <a:ext cx="3810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论文宣称</a:t>
            </a: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 xml:space="preserve"> MAE 3.22 / mIoU 90.2%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48625" y="4552950"/>
            <a:ext cx="3810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FC107"/>
                </a:solidFill>
                <a:latin typeface="思源黑体"/>
                <a:ea typeface="思源黑体"/>
              </a:rPr>
              <a:t>本次复现最佳</a:t>
            </a:r>
            <a:r>
              <a:rPr lang="en-US" sz="1275" b="1">
                <a:solidFill>
                  <a:srgbClr val="FFC107"/>
                </a:solidFill>
                <a:latin typeface="思源黑体"/>
                <a:ea typeface="思源黑体"/>
              </a:rPr>
              <a:t xml:space="preserve"> MAE 5.458</a:t>
            </a:r>
            <a:r>
              <a:rPr lang="zh-CN" sz="1275" b="1">
                <a:solidFill>
                  <a:srgbClr val="FFC107"/>
                </a:solidFill>
                <a:latin typeface="思源黑体"/>
                <a:ea typeface="思源黑体"/>
              </a:rPr>
              <a:t>（↓</a:t>
            </a:r>
            <a:r>
              <a:rPr lang="en-US" sz="1275" b="1">
                <a:solidFill>
                  <a:srgbClr val="FFC107"/>
                </a:solidFill>
                <a:latin typeface="思源黑体"/>
                <a:ea typeface="思源黑体"/>
              </a:rPr>
              <a:t>18.1%</a:t>
            </a:r>
            <a:r>
              <a:rPr lang="zh-CN" sz="1275" b="1">
                <a:solidFill>
                  <a:srgbClr val="FFC107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71500" y="571500"/>
            <a:ext cx="57150" cy="247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42950" y="600075"/>
            <a:ext cx="2028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150">
                <a:solidFill>
                  <a:srgbClr val="4A5568"/>
                </a:solidFill>
                <a:latin typeface="思源黑体"/>
                <a:ea typeface="思源黑体"/>
              </a:rPr>
              <a:t>论文复现汇报</a:t>
            </a:r>
            <a:r>
              <a:rPr lang="en-US" sz="1275" spc="150">
                <a:solidFill>
                  <a:srgbClr val="4A5568"/>
                </a:solidFill>
                <a:latin typeface="思源黑体"/>
                <a:ea typeface="思源黑体"/>
              </a:rPr>
              <a:t xml:space="preserve"> · 2026.10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71500" y="1666875"/>
            <a:ext cx="6667500" cy="184785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en-US" sz="4950" b="1">
                <a:solidFill>
                  <a:srgbClr val="0E3F8C"/>
                </a:solidFill>
                <a:latin typeface="思源黑体"/>
                <a:ea typeface="思源黑体"/>
              </a:rPr>
              <a:t xml:space="preserve">LGMFormer </a:t>
            </a:r>
            <a:r>
              <a:rPr lang="zh-CN" sz="4950" b="1">
                <a:solidFill>
                  <a:srgbClr val="0E3F8C"/>
                </a:solidFill>
                <a:latin typeface="思源黑体"/>
                <a:ea typeface="思源黑体"/>
              </a:rPr>
              <a:t>声呐鱼群</a:t>
            </a:r>
            <a:endParaRPr/>
          </a:p>
          <a:p>
            <a:pPr>
              <a:lnSpc>
                <a:spcPct val="122000"/>
              </a:lnSpc>
            </a:pPr>
            <a:r>
              <a:rPr lang="zh-CN" sz="4950" b="1">
                <a:solidFill>
                  <a:srgbClr val="0E3F8C"/>
                </a:solidFill>
                <a:latin typeface="思源黑体"/>
                <a:ea typeface="思源黑体"/>
              </a:rPr>
              <a:t>计数论文复现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3762375"/>
            <a:ext cx="6667500" cy="6762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425">
                <a:solidFill>
                  <a:srgbClr val="1E4FA8"/>
                </a:solidFill>
                <a:latin typeface="Times New Roman"/>
                <a:ea typeface="Times New Roman"/>
              </a:rPr>
              <a:t>Enhancing Fish Counting in Sonar Images With Multitask</a:t>
            </a:r>
            <a:endParaRPr/>
          </a:p>
          <a:p>
            <a:pPr>
              <a:lnSpc>
                <a:spcPct val="155000"/>
              </a:lnSpc>
            </a:pPr>
            <a:r>
              <a:rPr lang="en-US" sz="1425">
                <a:solidFill>
                  <a:srgbClr val="1E4FA8"/>
                </a:solidFill>
                <a:latin typeface="Times New Roman"/>
                <a:ea typeface="Times New Roman"/>
              </a:rPr>
              <a:t>Learning and Local-Global Feature Interaction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71500" y="4724400"/>
            <a:ext cx="85725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501015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两天</a:t>
            </a:r>
            <a:r>
              <a:rPr lang="en-US" sz="1575">
                <a:solidFill>
                  <a:srgbClr val="1A2230"/>
                </a:solidFill>
                <a:latin typeface="思源黑体"/>
                <a:ea typeface="思源黑体"/>
              </a:rPr>
              <a:t xml:space="preserve"> 11 </a:t>
            </a: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次完整训练实验</a:t>
            </a:r>
            <a:r>
              <a:rPr lang="en-US" sz="1575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｜</a:t>
            </a:r>
            <a:r>
              <a:rPr lang="en-US" sz="1575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论文方法全部模块自实现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核心方法测试</a:t>
            </a:r>
            <a:r>
              <a:rPr lang="en-US" sz="1575">
                <a:solidFill>
                  <a:srgbClr val="1A2230"/>
                </a:solidFill>
                <a:latin typeface="思源黑体"/>
                <a:ea typeface="思源黑体"/>
              </a:rPr>
              <a:t xml:space="preserve"> MAE </a:t>
            </a:r>
            <a:r>
              <a:rPr lang="zh-CN" sz="1575" b="1">
                <a:solidFill>
                  <a:srgbClr val="D9534F"/>
                </a:solidFill>
                <a:latin typeface="思源黑体"/>
                <a:ea typeface="思源黑体"/>
              </a:rPr>
              <a:t>降低</a:t>
            </a:r>
            <a:r>
              <a:rPr lang="en-US" sz="1575" b="1">
                <a:solidFill>
                  <a:srgbClr val="D9534F"/>
                </a:solidFill>
                <a:latin typeface="思源黑体"/>
                <a:ea typeface="思源黑体"/>
              </a:rPr>
              <a:t xml:space="preserve"> 18.1%</a:t>
            </a: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，与论文宣称收益量级吻合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61722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汇报人：研究生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019300" y="61722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数据：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ARIS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声呐数据集（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500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张）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781550" y="6172200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2026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年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 10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月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 15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84" name="" descr="&lt;Slide style={{ width: 1280, height: 720, background: '#F7F9FC', position: 'relative', overflow: 'hidden', fontFamily: '思源黑体, Microsoft YaHei, sans-serif' }}&gt;&#10;    {/* A 页眉：深蓝顶条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汇报提纲&lt;/Text&gt;&#10;    &lt;/Box&gt;&#10;    &lt;Box style={{ position: 'absolute', top: 26, right: 60 }}&gt;&#10;        &lt;Text style={{ fontSize: 16, color: '#B9CBE8' }}&gt;LGMFormer 声呐鱼群计数论文复现&lt;/Text&gt;&#10;    &lt;/Box&gt;&#10;&#10;    {/* 左标题栏 */}&#10;    &lt;Box style={{ position: 'absolute', top: 120, left: 60, width: 300 }}&gt;&#10;        &lt;Text style={{ fontSize: 34, fontWeight: 'bold', color: '#0E3F8C', lineHeight: 1.3 }}&gt;&#10;            四个部分&#10;        &lt;/Text&gt;&#10;        &lt;Box style={{ height: 18 }} /&gt;&#10;        &lt;Box style={{ width: 70, height: 4, background: '#1E4FA8' }} /&gt;&#10;        &lt;Box style={{ height: 22 }} /&gt;&#10;        &lt;Text style={{ fontSize: 19, color: '#4A5568', lineHeight: 1.8 }}&gt;&#10;            从论文方法拆解，&#10;            &lt;br /&gt;&#10;            到实现、实验，&#10;            &lt;br /&gt;&#10;            再到差距的诚实归因。&#10;        &lt;/Text&gt;&#10;        &lt;Box style={{ height: 26 }} /&gt;&#10;        &lt;Box style={{ padding: 16, background: '#E8EFF8', borderRadius: 8 }}&gt;&#10;            &lt;Text style={{ fontSize: 17, color: '#1E4FA8', lineHeight: 1.7 }}&gt;&#10;                共 13 页 ｜ 11 次&#10;                &lt;br /&gt;&#10;                300 轮完整实验&#10;            &lt;/Text&gt;&#10;        &lt;/Box&gt;&#10;    &lt;/Box&gt;&#10;&#10;    {/* 右侧编号列表 */}&#10;    &lt;Box style={{ position: 'absolute', top: 120, left: 410, width: 810, flexDirection: 'column', gap: 20 }}&gt;&#10;        {[&#10;            { n: '01', t: '背景与目标', d: '论文要解决什么问题、提出哪些创新、我的任务边界与复现约束' },&#10;            { n: '02', t: '实现与方法', d: '数据侧 Otsu 标签生成 + 四个核心模块按 Eq.1–17 逐条实现' },&#10;            { n: '03', t: '实验与结果', d: '11 次 300 轮实验对照表 + 收敛曲线，核心方法 MAE 降低 18.1%' },&#10;            { n: '04', t: '差距归因与计划', d: '距离论文 3.22 的三个缺口及原因；下一步的验证计划' },&#10;        ].map((it) =&gt; (&#10;            &lt;Box key={it.n} style={{ flexDirection: 'row', alignItems: 'flex-start', gap: 22, background: '#FFFFFF', border: '1px solid #D6DCE5', borderRadius: 8, padding: '18px 24px' }}&gt;&#10;                &lt;Box style={{ width: 58, height: 58, background: '#0E3F8C', borderRadius: 6, justifyContent: 'center', alignItems: 'center' }}&gt;&#10;                    &lt;Text style={{ fontSize: 24, fontWeight: 'bold', color: '#FFFFFF', fontFamily: 'Times New Roman, serif' }}&gt;{it.n}&lt;/Text&gt;&#10;                &lt;/Box&gt;&#10;                &lt;Box style={{ flex: 1, paddingTop: 2 }}&gt;&#10;                    &lt;Text style={{ fontSize: 26, fontWeight: 'bold', color: '#1A2230', lineHeight: 1.35 }}&gt;{it.t}&lt;/Text&gt;&#10;                    &lt;Box style={{ height: 8 }} /&gt;&#10;                    &lt;Text style={{ fontSize: 17, color: '#4A5568', lineHeight: 1.6 }}&gt;{it.d}&lt;/Text&gt;&#10;                &lt;/Box&gt;&#10;            &lt;/Box&gt;&#10;        ))}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02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汇报提纲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9191625" y="24765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LGMFormer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声呐鱼群计数论文复现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28575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E3F8C"/>
                </a:solidFill>
                <a:latin typeface="思源黑体"/>
                <a:ea typeface="思源黑体"/>
              </a:rPr>
              <a:t>四个部分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571500" y="1828800"/>
            <a:ext cx="66675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71500" y="2076450"/>
            <a:ext cx="2857500" cy="11811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425">
                <a:solidFill>
                  <a:srgbClr val="4A5568"/>
                </a:solidFill>
                <a:latin typeface="思源黑体"/>
                <a:ea typeface="思源黑体"/>
              </a:rPr>
              <a:t>从论文方法拆解，</a:t>
            </a:r>
            <a:endParaRPr/>
          </a:p>
          <a:p>
            <a:pPr>
              <a:lnSpc>
                <a:spcPct val="180000"/>
              </a:lnSpc>
            </a:pPr>
            <a:r>
              <a:rPr lang="zh-CN" sz="1425">
                <a:solidFill>
                  <a:srgbClr val="4A5568"/>
                </a:solidFill>
                <a:latin typeface="思源黑体"/>
                <a:ea typeface="思源黑体"/>
              </a:rPr>
              <a:t>到实现、实验，</a:t>
            </a:r>
            <a:endParaRPr/>
          </a:p>
          <a:p>
            <a:pPr>
              <a:lnSpc>
                <a:spcPct val="180000"/>
              </a:lnSpc>
            </a:pPr>
            <a:r>
              <a:rPr lang="zh-CN" sz="1425">
                <a:solidFill>
                  <a:srgbClr val="4A5568"/>
                </a:solidFill>
                <a:latin typeface="思源黑体"/>
                <a:ea typeface="思源黑体"/>
              </a:rPr>
              <a:t>再到差距的诚实归因。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571500" y="3505200"/>
            <a:ext cx="2857500" cy="971550"/>
          </a:xfrm>
          <a:prstGeom prst="roundRect">
            <a:avLst>
              <a:gd name="adj" fmla="val 784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23900" y="3657600"/>
            <a:ext cx="255270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1E4FA8"/>
                </a:solidFill>
                <a:latin typeface="思源黑体"/>
                <a:ea typeface="思源黑体"/>
              </a:rPr>
              <a:t>共</a:t>
            </a:r>
            <a:r>
              <a:rPr lang="en-US" sz="1275">
                <a:solidFill>
                  <a:srgbClr val="1E4FA8"/>
                </a:solidFill>
                <a:latin typeface="思源黑体"/>
                <a:ea typeface="思源黑体"/>
              </a:rPr>
              <a:t xml:space="preserve"> 13 </a:t>
            </a:r>
            <a:r>
              <a:rPr lang="zh-CN" sz="1275">
                <a:solidFill>
                  <a:srgbClr val="1E4FA8"/>
                </a:solidFill>
                <a:latin typeface="思源黑体"/>
                <a:ea typeface="思源黑体"/>
              </a:rPr>
              <a:t>页</a:t>
            </a:r>
            <a:r>
              <a:rPr lang="en-US" sz="1275">
                <a:solidFill>
                  <a:srgbClr val="1E4FA8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275">
                <a:solidFill>
                  <a:srgbClr val="1E4FA8"/>
                </a:solidFill>
                <a:latin typeface="思源黑体"/>
                <a:ea typeface="思源黑体"/>
              </a:rPr>
              <a:t>｜</a:t>
            </a:r>
            <a:r>
              <a:rPr lang="en-US" sz="1275">
                <a:solidFill>
                  <a:srgbClr val="1E4FA8"/>
                </a:solidFill>
                <a:latin typeface="思源黑体"/>
                <a:ea typeface="思源黑体"/>
              </a:rPr>
              <a:t xml:space="preserve"> 11 </a:t>
            </a:r>
            <a:r>
              <a:rPr lang="zh-CN" sz="1275">
                <a:solidFill>
                  <a:srgbClr val="1E4FA8"/>
                </a:solidFill>
                <a:latin typeface="思源黑体"/>
                <a:ea typeface="思源黑体"/>
              </a:rPr>
              <a:t>次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1E4FA8"/>
                </a:solidFill>
                <a:latin typeface="思源黑体"/>
                <a:ea typeface="思源黑体"/>
              </a:rPr>
              <a:t xml:space="preserve">300 </a:t>
            </a:r>
            <a:r>
              <a:rPr lang="zh-CN" sz="1275">
                <a:solidFill>
                  <a:srgbClr val="1E4FA8"/>
                </a:solidFill>
                <a:latin typeface="思源黑体"/>
                <a:ea typeface="思源黑体"/>
              </a:rPr>
              <a:t>轮完整实验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3905250" y="1143000"/>
            <a:ext cx="7715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4133850" y="1314450"/>
            <a:ext cx="552450" cy="552450"/>
          </a:xfrm>
          <a:prstGeom prst="roundRect">
            <a:avLst>
              <a:gd name="adj" fmla="val 1034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295775" y="14573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895850" y="1333500"/>
            <a:ext cx="6496050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1A2230"/>
                </a:solidFill>
                <a:latin typeface="思源黑体"/>
                <a:ea typeface="思源黑体"/>
              </a:rPr>
              <a:t>背景与目标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895850" y="1819275"/>
            <a:ext cx="6496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论文要解决什么问题、提出哪些创新、我的任务边界与复现约束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3905250" y="2495550"/>
            <a:ext cx="7715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4133850" y="2667000"/>
            <a:ext cx="552450" cy="552450"/>
          </a:xfrm>
          <a:prstGeom prst="roundRect">
            <a:avLst>
              <a:gd name="adj" fmla="val 1034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295775" y="28098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895850" y="2686050"/>
            <a:ext cx="6496050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1A2230"/>
                </a:solidFill>
                <a:latin typeface="思源黑体"/>
                <a:ea typeface="思源黑体"/>
              </a:rPr>
              <a:t>实现与方法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895850" y="3171825"/>
            <a:ext cx="6496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数据侧</a:t>
            </a: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 Otsu </a:t>
            </a: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标签生成</a:t>
            </a: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四个核心模块按</a:t>
            </a: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 Eq.1–17 </a:t>
            </a: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逐条实现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3905250" y="3848100"/>
            <a:ext cx="7715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4133850" y="4019550"/>
            <a:ext cx="552450" cy="552450"/>
          </a:xfrm>
          <a:prstGeom prst="roundRect">
            <a:avLst>
              <a:gd name="adj" fmla="val 1034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295775" y="41624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895850" y="4038600"/>
            <a:ext cx="6496050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1A2230"/>
                </a:solidFill>
                <a:latin typeface="思源黑体"/>
                <a:ea typeface="思源黑体"/>
              </a:rPr>
              <a:t>实验与结果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895850" y="4524375"/>
            <a:ext cx="6496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11 </a:t>
            </a: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次</a:t>
            </a: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 300 </a:t>
            </a: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轮实验对照表</a:t>
            </a: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收敛曲线，核心方法</a:t>
            </a: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 MAE </a:t>
            </a: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降低</a:t>
            </a: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 18.1%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3905250" y="5200650"/>
            <a:ext cx="7715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4133850" y="5372100"/>
            <a:ext cx="552450" cy="552450"/>
          </a:xfrm>
          <a:prstGeom prst="roundRect">
            <a:avLst>
              <a:gd name="adj" fmla="val 1034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295775" y="55149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4895850" y="5391150"/>
            <a:ext cx="6496050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1A2230"/>
                </a:solidFill>
                <a:latin typeface="思源黑体"/>
                <a:ea typeface="思源黑体"/>
              </a:rPr>
              <a:t>差距归因与计划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4895850" y="5876925"/>
            <a:ext cx="6496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距离论文</a:t>
            </a:r>
            <a:r>
              <a:rPr lang="en-US" sz="1275">
                <a:solidFill>
                  <a:srgbClr val="4A5568"/>
                </a:solidFill>
                <a:latin typeface="思源黑体"/>
                <a:ea typeface="思源黑体"/>
              </a:rPr>
              <a:t xml:space="preserve"> 3.22 </a:t>
            </a:r>
            <a:r>
              <a:rPr lang="zh-CN" sz="1275">
                <a:solidFill>
                  <a:srgbClr val="4A5568"/>
                </a:solidFill>
                <a:latin typeface="思源黑体"/>
                <a:ea typeface="思源黑体"/>
              </a:rPr>
              <a:t>的三个缺口及原因；下一步的验证计划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16" name="" descr="&lt;Slide style={{ width: 1280, height: 720, background: '#FFFFFF', position: 'relative', overflow: 'hidden', fontFamily: '思源黑体, Microsoft YaHei, sans-serif' }}&gt;&#10;    {/* 左侧深蓝竖块 */}&#10;    &lt;Box style={{ position: 'absolute', top: 0, left: 0, width: 430, height: 720, background: '#0E3F8C' }} /&gt;&#10;    {/* 巨型数字 01 */}&#10;    &lt;Box style={{ position: 'absolute', top: 150, left: 60 }}&gt;&#10;        &lt;Text style={{ fontSize: 200, fontWeight: 'bold', color: '#3D7BD9', fontFamily: 'Times New Roman, serif', lineHeight: 1, opacity: 0.55 }}&gt;01&lt;/Text&gt;&#10;    &lt;/Box&gt;&#10;    &lt;Box style={{ position: 'absolute', top: 390, left: 66, width: 300, flexDirection: 'column' }}&gt;&#10;        &lt;Box style={{ width: 80, height: 5, background: '#FFC107' }} /&gt;&#10;        &lt;Box style={{ height: 26 }} /&gt;&#10;        &lt;Text style={{ fontSize: 22, color: '#B9CBE8', lineHeight: 1.7 }}&gt;&#10;            论文方法 · 创新点 · 复现条件&#10;        &lt;/Text&gt;&#10;    &lt;/Box&gt;&#10;&#10;    {/* 右侧内容区 */}&#10;    &lt;Box style={{ position: 'absolute', top: 130, left: 500, width: 720 }}&gt;&#10;        &lt;Text style={{ fontSize: 52, fontWeight: 'bold', color: '#0E3F8C', lineHeight: 1.25 }}&gt;&#10;            背景与目标&#10;        &lt;/Text&gt;&#10;        &lt;Box style={{ height: 24 }} /&gt;&#10;        &lt;Box style={{ width: 100, height: 5, background: '#1E4FA8' }} /&gt;&#10;        &lt;Box style={{ height: 34 }} /&gt;&#10;        &lt;Text style={{ fontSize: 22, color: '#1A2230', lineHeight: 1.95 }}&gt;&#10;            论文提出 &lt;span style={{ fontWeight: 'bold', color: '#1E4FA8' }}&gt;LGMFormer&lt;/span&gt;，用&#10;            &lt;span style={{ fontWeight: 'bold', color: '#1E4FA8' }}&gt;多任务学习&lt;/span&gt;（密度回归 + 三类分割）&#10;            与 &lt;span style={{ fontWeight: 'bold', color: '#1E4FA8' }}&gt;局部-全局特征交互&lt;/span&gt;&#10;            提升声呐鱼群计数精度。&#10;        &lt;/Text&gt;&#10;        &lt;Box style={{ height: 26 }} /&gt;&#10;        &lt;Text style={{ fontSize: 22, color: '#1A2230', lineHeight: 1.95 }}&gt;&#10;            论文宣称指标 &lt;span style={{ fontFamily: 'Times New Roman, serif' }}&gt;MAE 3.22&lt;/span&gt; /&#10;            &lt;span style={{ fontFamily: 'Times New Roman, serif' }}&gt; mIoU 90.2%&lt;/span&gt;。&#10;            本部分说明我要复现的&lt;strong&gt;方法主线&lt;/strong&gt;与&lt;strong&gt;现实约束&lt;/strong&gt;。&#10;        &lt;/Text&gt;&#10;    &lt;/Box&gt;&#10;&#10;    {/* C 页脚 */}&#10;    &lt;Box style={{ position: 'absolute', bottom: 24, left: 500 }}&gt;&#10;        &lt;Text style={{ fontSize: 15, color: '#8B97A8' }}&gt;一、背景与目标&lt;/Text&gt;&#10;    &lt;/Box&gt;&#10;    &lt;Box style={{ position: 'absolute', bottom: 24, right: 60 }}&gt;&#10;        &lt;Text style={{ fontSize: 15, color: '#1E4FA8', fontWeight: 'bold', fontFamily: 'Times New Roman, serif' }}&gt;03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0" y="0"/>
            <a:ext cx="40957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1905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>
                    <a:alpha val="55000"/>
                  </a:srgbClr>
                </a:solidFill>
                <a:latin typeface="Times New Roman"/>
                <a:ea typeface="Times New Roman"/>
              </a:rPr>
              <a:t>01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28650" y="37147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28650" y="4010025"/>
            <a:ext cx="28575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论文方法</a:t>
            </a:r>
            <a:r>
              <a:rPr lang="en-US" sz="165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创新点</a:t>
            </a:r>
            <a:r>
              <a:rPr lang="en-US" sz="165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复现条件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762500" y="1238250"/>
            <a:ext cx="6858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0E3F8C"/>
                </a:solidFill>
                <a:latin typeface="思源黑体"/>
                <a:ea typeface="思源黑体"/>
              </a:rPr>
              <a:t>背景与目标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4762500" y="2209800"/>
            <a:ext cx="9525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4762500" y="2581275"/>
            <a:ext cx="6858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论文提出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650" b="1">
                <a:solidFill>
                  <a:srgbClr val="1E4FA8"/>
                </a:solidFill>
                <a:latin typeface="思源黑体"/>
                <a:ea typeface="思源黑体"/>
              </a:rPr>
              <a:t>LGMFormer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，用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多任务学习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（密度回归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三类分割）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与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局部</a:t>
            </a:r>
            <a:r>
              <a:rPr lang="en-US" sz="1650" b="1">
                <a:solidFill>
                  <a:srgbClr val="1E4FA8"/>
                </a:solidFill>
                <a:latin typeface="思源黑体"/>
                <a:ea typeface="思源黑体"/>
              </a:rPr>
              <a:t>-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全局特征交互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提升声呐鱼群计数精度。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762500" y="3810000"/>
            <a:ext cx="6858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论文宣称指标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>MAE 3.22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/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mIoU 90.2%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。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本部分说明我要复现的</a:t>
            </a:r>
            <a:r>
              <a:rPr lang="zh-CN" sz="1650" b="1">
                <a:solidFill>
                  <a:srgbClr val="1A2230"/>
                </a:solidFill>
                <a:latin typeface="思源黑体"/>
                <a:ea typeface="思源黑体"/>
              </a:rPr>
              <a:t>方法主线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与</a:t>
            </a:r>
            <a:r>
              <a:rPr lang="zh-CN" sz="1650" b="1">
                <a:solidFill>
                  <a:srgbClr val="1A2230"/>
                </a:solidFill>
                <a:latin typeface="思源黑体"/>
                <a:ea typeface="思源黑体"/>
              </a:rPr>
              <a:t>现实约束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4762500" y="64579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一、背景与目标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03 / 13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28" name="" descr="&lt;Slide style={{ width: 1280, height: 720, background: '#FFFFFF', position: 'relative', overflow: 'hidden', fontFamily: '思源黑体, Microsoft YaHei, sans-serif' }}&gt;&#10;    {/* 左侧深蓝竖块 */}&#10;    &lt;Box style={{ position: 'absolute', top: 0, left: 0, width: 430, height: 720, background: '#0E3F8C' }} /&gt;&#10;    {/* 巨型数字 01 */}&#10;    &lt;Box style={{ position: 'absolute', top: 150, left: 60 }}&gt;&#10;        &lt;Text style={{ fontSize: 200, fontWeight: 'bold', color: '#3D7BD9', fontFamily: 'Times New Roman, serif', lineHeight: 1, opacity: 0.55 }}&gt;01&lt;/Text&gt;&#10;    &lt;/Box&gt;&#10;    &lt;Box style={{ position: 'absolute', top: 390, left: 66, width: 310, flexDirection: 'column' }}&gt;&#10;        &lt;Box style={{ width: 80, height: 5, background: '#FFC107' }} /&gt;&#10;        &lt;Box style={{ height: 26 }} /&gt;&#10;        &lt;Text style={{ fontSize: 22, color: '#B9CBE8', lineHeight: 1.7 }}&gt;&#10;            论文方法 · 创新点 · 复现条件&#10;        &lt;/Text&gt;&#10;        &lt;Box style={{ height: 48 }} /&gt;&#10;        &lt;Text style={{ fontSize: 18, color: '#8FB0DC', lineHeight: 1.85 }}&gt;&#10;            ResNet18 编码器&#10;            &lt;br /&gt;&#10;            + Transformer 解码器&#10;            &lt;br /&gt;&#10;            + MTL 分割辅助&#10;        &lt;/Text&gt;&#10;    &lt;/Box&gt;&#10;&#10;    {/* 右侧内容区 */}&#10;    &lt;Box style={{ position: 'absolute', top: 130, left: 500, width: 720 }}&gt;&#10;        &lt;Text style={{ fontSize: 52, fontWeight: 'bold', color: '#0E3F8C', lineHeight: 1.25 }}&gt;&#10;            背景与目标&#10;        &lt;/Text&gt;&#10;        &lt;Box style={{ height: 24 }} /&gt;&#10;        &lt;Box style={{ width: 100, height: 5, background: '#1E4FA8' }} /&gt;&#10;        &lt;Box style={{ height: 34 }} /&gt;&#10;        &lt;Text style={{ fontSize: 22, color: '#1A2230', lineHeight: 1.95 }}&gt;&#10;            论文提出 &lt;span style={{ fontWeight: 'bold', color: '#1E4FA8' }}&gt;LGMFormer&lt;/span&gt;，用&#10;            &lt;span style={{ fontWeight: 'bold', color: '#1E4FA8' }}&gt;多任务学习&lt;/span&gt;（密度回归 + 三类分割）&#10;            与 &lt;span style={{ fontWeight: 'bold', color: '#1E4FA8' }}&gt;局部-全局特征交互&lt;/span&gt;&#10;            提升声呐鱼群计数精度。&#10;        &lt;/Text&gt;&#10;        &lt;Box style={{ height: 26 }} /&gt;&#10;        &lt;Text style={{ fontSize: 22, color: '#1A2230', lineHeight: 1.95 }}&gt;&#10;            论文宣称指标 &lt;span style={{ fontFamily: 'Times New Roman, serif' }}&gt;MAE 3.22&lt;/span&gt; /&#10;            &lt;span style={{ fontFamily: 'Times New Roman, serif' }}&gt; mIoU 90.2%&lt;/span&gt;。&#10;            本部分说明我要复现的&lt;strong&gt;方法主线&lt;/strong&gt;与&lt;strong&gt;现实约束&lt;/strong&gt;。&#10;        &lt;/Text&gt;&#10;    &lt;/Box&gt;&#10;&#10;    {/* C 页脚 */}&#10;    &lt;Box style={{ position: 'absolute', bottom: 24, left: 500 }}&gt;&#10;        &lt;Text style={{ fontSize: 15, color: '#8B97A8' }}&gt;一、背景与目标&lt;/Text&gt;&#10;    &lt;/Box&gt;&#10;    &lt;Box style={{ position: 'absolute', bottom: 24, right: 60 }}&gt;&#10;        &lt;Text style={{ fontSize: 15, color: '#1E4FA8', fontWeight: 'bold', fontFamily: 'Times New Roman, serif' }}&gt;03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0" y="0"/>
            <a:ext cx="40957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1905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>
                    <a:alpha val="55000"/>
                  </a:srgbClr>
                </a:solidFill>
                <a:latin typeface="Times New Roman"/>
                <a:ea typeface="Times New Roman"/>
              </a:rPr>
              <a:t>01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28650" y="37147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28650" y="4010025"/>
            <a:ext cx="295275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论文方法</a:t>
            </a:r>
            <a:r>
              <a:rPr lang="en-US" sz="165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创新点</a:t>
            </a:r>
            <a:r>
              <a:rPr lang="en-US" sz="165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复现条件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28650" y="4895850"/>
            <a:ext cx="2952750" cy="1143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350">
                <a:solidFill>
                  <a:srgbClr val="8FB0DC"/>
                </a:solidFill>
                <a:latin typeface="思源黑体"/>
                <a:ea typeface="思源黑体"/>
              </a:rPr>
              <a:t xml:space="preserve">ResNet18 </a:t>
            </a: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编码器</a:t>
            </a:r>
            <a:endParaRPr/>
          </a:p>
          <a:p>
            <a:pPr>
              <a:lnSpc>
                <a:spcPct val="185000"/>
              </a:lnSpc>
            </a:pPr>
            <a:r>
              <a:rPr lang="en-US" sz="1350">
                <a:solidFill>
                  <a:srgbClr val="8FB0DC"/>
                </a:solidFill>
                <a:latin typeface="思源黑体"/>
                <a:ea typeface="思源黑体"/>
              </a:rPr>
              <a:t xml:space="preserve">+ Transformer </a:t>
            </a: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解码器</a:t>
            </a:r>
            <a:endParaRPr/>
          </a:p>
          <a:p>
            <a:pPr>
              <a:lnSpc>
                <a:spcPct val="185000"/>
              </a:lnSpc>
            </a:pPr>
            <a:r>
              <a:rPr lang="en-US" sz="1350">
                <a:solidFill>
                  <a:srgbClr val="8FB0DC"/>
                </a:solidFill>
                <a:latin typeface="思源黑体"/>
                <a:ea typeface="思源黑体"/>
              </a:rPr>
              <a:t xml:space="preserve">+ MTL </a:t>
            </a: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分割辅助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762500" y="1238250"/>
            <a:ext cx="6858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0E3F8C"/>
                </a:solidFill>
                <a:latin typeface="思源黑体"/>
                <a:ea typeface="思源黑体"/>
              </a:rPr>
              <a:t>背景与目标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4762500" y="2209800"/>
            <a:ext cx="9525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4762500" y="2581275"/>
            <a:ext cx="6858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论文提出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650" b="1">
                <a:solidFill>
                  <a:srgbClr val="1E4FA8"/>
                </a:solidFill>
                <a:latin typeface="思源黑体"/>
                <a:ea typeface="思源黑体"/>
              </a:rPr>
              <a:t>LGMFormer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，用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多任务学习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（密度回归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三类分割）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与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局部</a:t>
            </a:r>
            <a:r>
              <a:rPr lang="en-US" sz="1650" b="1">
                <a:solidFill>
                  <a:srgbClr val="1E4FA8"/>
                </a:solidFill>
                <a:latin typeface="思源黑体"/>
                <a:ea typeface="思源黑体"/>
              </a:rPr>
              <a:t>-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全局特征交互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提升声呐鱼群计数精度。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762500" y="3810000"/>
            <a:ext cx="6858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论文宣称指标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>MAE 3.22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/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mIoU 90.2%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。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本部分说明我要复现的</a:t>
            </a:r>
            <a:r>
              <a:rPr lang="zh-CN" sz="1650" b="1">
                <a:solidFill>
                  <a:srgbClr val="1A2230"/>
                </a:solidFill>
                <a:latin typeface="思源黑体"/>
                <a:ea typeface="思源黑体"/>
              </a:rPr>
              <a:t>方法主线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与</a:t>
            </a:r>
            <a:r>
              <a:rPr lang="zh-CN" sz="1650" b="1">
                <a:solidFill>
                  <a:srgbClr val="1A2230"/>
                </a:solidFill>
                <a:latin typeface="思源黑体"/>
                <a:ea typeface="思源黑体"/>
              </a:rPr>
              <a:t>现实约束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762500" y="64579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一、背景与目标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03 / 13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41" name="" descr="&lt;Slide style={{ width: 1280, height: 720, background: '#FFFFFF', position: 'relative', overflow: 'hidden', fontFamily: '思源黑体, Microsoft YaHei, sans-serif' }}&gt;&#10;    {/* 左侧深蓝竖块 */}&#10;    &lt;Box style={{ position: 'absolute', top: 0, left: 0, width: 430, height: 720, background: '#0E3F8C' }} /&gt;&#10;    {/* 巨型数字 01 */}&#10;    &lt;Box style={{ position: 'absolute', top: 150, left: 60 }}&gt;&#10;        &lt;Text style={{ fontSize: 200, fontWeight: 'bold', color: '#3D7BD9', fontFamily: 'Times New Roman, serif', lineHeight: 1, opacity: 0.55 }}&gt;01&lt;/Text&gt;&#10;    &lt;/Box&gt;&#10;    &lt;Box style={{ position: 'absolute', top: 390, left: 66, width: 310, flexDirection: 'column' }}&gt;&#10;        &lt;Box style={{ width: 80, height: 5, background: '#FFC107' }} /&gt;&#10;        &lt;Box style={{ height: 26 }} /&gt;&#10;        &lt;Text style={{ fontSize: 22, color: '#B9CBE8', lineHeight: 1.7 }}&gt;&#10;            论文方法 · 创新点 · 复现条件&#10;        &lt;/Text&gt;&#10;        &lt;Box style={{ height: 48 }} /&gt;&#10;        &lt;Text style={{ fontSize: 18, color: '#8FB0DC', lineHeight: 1.85 }}&gt;&#10;            ResNet18 编码器&#10;            &lt;br /&gt;&#10;            + Transformer 解码器&#10;            &lt;br /&gt;&#10;            + MTL 分割辅助&#10;        &lt;/Text&gt;&#10;    &lt;/Box&gt;&#10;&#10;    {/* 右侧内容区 */}&#10;    &lt;Box style={{ position: 'absolute', top: 130, left: 500, width: 720 }}&gt;&#10;        &lt;Text style={{ fontSize: 52, fontWeight: 'bold', color: '#0E3F8C', lineHeight: 1.25 }}&gt;&#10;            背景与目标&#10;        &lt;/Text&gt;&#10;        &lt;Box style={{ height: 24 }} /&gt;&#10;        &lt;Box style={{ width: 100, height: 5, background: '#1E4FA8' }} /&gt;&#10;        &lt;Box style={{ height: 34 }} /&gt;&#10;        &lt;Text style={{ fontSize: 22, color: '#1A2230', lineHeight: 1.95 }}&gt;&#10;            论文提出 &lt;span style={{ fontWeight: 'bold', color: '#1E4FA8' }}&gt;LGMFormer&lt;/span&gt;，用&#10;            &lt;span style={{ fontWeight: 'bold', color: '#1E4FA8' }}&gt;多任务学习&lt;/span&gt;（密度回归 + 三类分割）&#10;            与 &lt;span style={{ fontWeight: 'bold', color: '#1E4FA8' }}&gt;局部-全局特征交互&lt;/span&gt;&#10;            提升声呐鱼群计数精度。&#10;        &lt;/Text&gt;&#10;        &lt;Box style={{ height: 26 }} /&gt;&#10;        &lt;Text style={{ fontSize: 22, color: '#1A2230', lineHeight: 1.95 }}&gt;&#10;            论文宣称指标 &lt;span style={{ fontFamily: 'Times New Roman, serif' }}&gt;MAE 3.22&lt;/span&gt; /&#10;            &lt;span style={{ fontFamily: 'Times New Roman, serif' }}&gt; mIoU 90.2%&lt;/span&gt;。&#10;            本部分说明我要复现的&lt;strong&gt;方法主线&lt;/strong&gt;与&lt;strong&gt;现实约束&lt;/strong&gt;。&#10;        &lt;/Text&gt;&#10;    &lt;/Box&gt;&#10;&#10;    {/* 右侧底部：关键要点条 */}&#10;    &lt;Box style={{ position: 'absolute', bottom: 70, left: 500, width: 720, flexDirection: 'row', gap: 16 }}&gt;&#10;        {[&#10;            { k: '核心', v: '用分割辅助计数' },&#10;            { k: '结构', v: '局部-全局交互' },&#10;            { k: '目标', v: 'MAE 3.22 复现' },&#10;        ].map((it) =&gt; (&#10;            &lt;Box key={it.k} style={{ flex: 1, background: '#F0F5FC', border: '1px solid #D6DCE5', borderRadius: 8, padding: '16px 18px' }}&gt;&#10;                &lt;Text style={{ fontSize: 15, color: '#3D7BD9', fontWeight: 'bold', letterSpacing: 1 }}&gt;{it.k}&lt;/Text&gt;&#10;                &lt;Box style={{ height: 8 }} /&gt;&#10;                &lt;Text style={{ fontSize: 20, color: '#1A2230', fontWeight: 'bold' }}&gt;{it.v}&lt;/Text&gt;&#10;            &lt;/Box&gt;&#10;        ))}&#10;    &lt;/Box&gt;&#10;&#10;    {/* C 页脚 */}&#10;    &lt;Box style={{ position: 'absolute', bottom: 24, left: 500 }}&gt;&#10;        &lt;Text style={{ fontSize: 15, color: '#8B97A8' }}&gt;一、背景与目标&lt;/Text&gt;&#10;    &lt;/Box&gt;&#10;    &lt;Box style={{ position: 'absolute', bottom: 24, right: 60 }}&gt;&#10;        &lt;Text style={{ fontSize: 15, color: '#1E4FA8', fontWeight: 'bold', fontFamily: 'Times New Roman, serif' }}&gt;03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0" y="0"/>
            <a:ext cx="40957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1905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>
                    <a:alpha val="55000"/>
                  </a:srgbClr>
                </a:solidFill>
                <a:latin typeface="Times New Roman"/>
                <a:ea typeface="Times New Roman"/>
              </a:rPr>
              <a:t>01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28650" y="37147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28650" y="4010025"/>
            <a:ext cx="295275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论文方法</a:t>
            </a:r>
            <a:r>
              <a:rPr lang="en-US" sz="165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创新点</a:t>
            </a:r>
            <a:r>
              <a:rPr lang="en-US" sz="165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复现条件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28650" y="4895850"/>
            <a:ext cx="2952750" cy="1143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350">
                <a:solidFill>
                  <a:srgbClr val="8FB0DC"/>
                </a:solidFill>
                <a:latin typeface="思源黑体"/>
                <a:ea typeface="思源黑体"/>
              </a:rPr>
              <a:t xml:space="preserve">ResNet18 </a:t>
            </a: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编码器</a:t>
            </a:r>
            <a:endParaRPr/>
          </a:p>
          <a:p>
            <a:pPr>
              <a:lnSpc>
                <a:spcPct val="185000"/>
              </a:lnSpc>
            </a:pPr>
            <a:r>
              <a:rPr lang="en-US" sz="1350">
                <a:solidFill>
                  <a:srgbClr val="8FB0DC"/>
                </a:solidFill>
                <a:latin typeface="思源黑体"/>
                <a:ea typeface="思源黑体"/>
              </a:rPr>
              <a:t xml:space="preserve">+ Transformer </a:t>
            </a: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解码器</a:t>
            </a:r>
            <a:endParaRPr/>
          </a:p>
          <a:p>
            <a:pPr>
              <a:lnSpc>
                <a:spcPct val="185000"/>
              </a:lnSpc>
            </a:pPr>
            <a:r>
              <a:rPr lang="en-US" sz="1350">
                <a:solidFill>
                  <a:srgbClr val="8FB0DC"/>
                </a:solidFill>
                <a:latin typeface="思源黑体"/>
                <a:ea typeface="思源黑体"/>
              </a:rPr>
              <a:t xml:space="preserve">+ MTL </a:t>
            </a: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分割辅助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762500" y="1238250"/>
            <a:ext cx="6858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0E3F8C"/>
                </a:solidFill>
                <a:latin typeface="思源黑体"/>
                <a:ea typeface="思源黑体"/>
              </a:rPr>
              <a:t>背景与目标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4762500" y="2209800"/>
            <a:ext cx="9525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762500" y="2581275"/>
            <a:ext cx="6858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论文提出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650" b="1">
                <a:solidFill>
                  <a:srgbClr val="1E4FA8"/>
                </a:solidFill>
                <a:latin typeface="思源黑体"/>
                <a:ea typeface="思源黑体"/>
              </a:rPr>
              <a:t>LGMFormer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，用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多任务学习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（密度回归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三类分割）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与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局部</a:t>
            </a:r>
            <a:r>
              <a:rPr lang="en-US" sz="1650" b="1">
                <a:solidFill>
                  <a:srgbClr val="1E4FA8"/>
                </a:solidFill>
                <a:latin typeface="思源黑体"/>
                <a:ea typeface="思源黑体"/>
              </a:rPr>
              <a:t>-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全局特征交互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提升声呐鱼群计数精度。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762500" y="3810000"/>
            <a:ext cx="6858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论文宣称指标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>MAE 3.22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/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mIoU 90.2%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。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本部分说明我要复现的</a:t>
            </a:r>
            <a:r>
              <a:rPr lang="zh-CN" sz="1650" b="1">
                <a:solidFill>
                  <a:srgbClr val="1A2230"/>
                </a:solidFill>
                <a:latin typeface="思源黑体"/>
                <a:ea typeface="思源黑体"/>
              </a:rPr>
              <a:t>方法主线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与</a:t>
            </a:r>
            <a:r>
              <a:rPr lang="zh-CN" sz="1650" b="1">
                <a:solidFill>
                  <a:srgbClr val="1A2230"/>
                </a:solidFill>
                <a:latin typeface="思源黑体"/>
                <a:ea typeface="思源黑体"/>
              </a:rPr>
              <a:t>现实约束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762500" y="5410200"/>
            <a:ext cx="2181225" cy="781050"/>
          </a:xfrm>
          <a:prstGeom prst="roundRect">
            <a:avLst>
              <a:gd name="adj" fmla="val 975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933950" y="556260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思源黑体"/>
                <a:ea typeface="思源黑体"/>
              </a:rPr>
              <a:t>核心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933950" y="5810250"/>
            <a:ext cx="1838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用分割辅助计数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7096125" y="5410200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267575" y="55626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思源黑体"/>
                <a:ea typeface="思源黑体"/>
              </a:rPr>
              <a:t>结构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267575" y="5810250"/>
            <a:ext cx="1847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局部</a:t>
            </a: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>-</a:t>
            </a: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全局交互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9439275" y="5410200"/>
            <a:ext cx="2181225" cy="781050"/>
          </a:xfrm>
          <a:prstGeom prst="roundRect">
            <a:avLst>
              <a:gd name="adj" fmla="val 975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9610725" y="556260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思源黑体"/>
                <a:ea typeface="思源黑体"/>
              </a:rPr>
              <a:t>目标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9610725" y="5810250"/>
            <a:ext cx="1838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 xml:space="preserve">MAE 3.22 </a:t>
            </a: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复现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762500" y="64579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一、背景与目标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03 / 13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63" name="" descr="&lt;Slide style={{ width: 1280, height: 720, background: '#FFFFFF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论文方法概览&lt;/Text&gt;&#10;    &lt;/Box&gt;&#10;    &lt;Box style={{ position: 'absolute', top: 26, right: 60 }}&gt;&#10;        &lt;Text style={{ fontSize: 16, color: '#B9CBE8' }}&gt;LGMFormer 结构主线&lt;/Text&gt;&#10;    &lt;/Box&gt;&#10;&#10;    {/* 左侧架构 SVG（占左 55%） */}&#10;    &lt;Box style={{ position: 'absolute', top: 108, left: 60, width: 640, height: 520, background: '#F7F9FC', border: '1px solid #D6DCE5', borderRadius: 8 }}&gt;&#10;        &lt;Box style={{ position: 'absolute', top: 18, left: 24 }}&gt;&#10;            &lt;Text style={{ fontSize: 17, color: '#4A5568', fontWeight: 'bold' }}&gt;图 2 结构复刻（按论文 Fig.2 重绘）&lt;/Text&gt;&#10;        &lt;/Box&gt;&#10;&#10;        {/* 输入 */}&#10;        &lt;Box style={{ position: 'absolute', top: 70, left: 30, width: 82, height: 150, background: '#0E3F8C', borderRadius: 6, justifyContent: 'center', alignItems: 'center' }}&gt;&#10;            &lt;Text style={{ fontSize: 16, color: '#FFFFFF', fontWeight: 'bold', textAlign: 'center', lineHeight: 1.5 }}&gt;声呐&#10;                &lt;br /&gt;图像&lt;/Text&gt;&#10;        &lt;/Box&gt;&#10;&#10;        {/* 编码器 */}&#10;        &lt;Box style={{ position: 'absolute', top: 70, left: 132, width: 96, height: 150, background: '#1E4FA8', borderRadius: 6, justifyContent: 'center', alignItems: 'center' }}&gt;&#10;            &lt;Text style={{ fontSize: 15, color: '#FFFFFF', fontWeight: 'bold', textAlign: 'center', lineHeight: 1.5 }}&gt;ResNet18&#10;                &lt;br /&gt;编码器&lt;/Text&gt;&#10;        &lt;/Box&gt;&#10;&#10;        {/* 特征层堆叠 */}&#10;        &lt;Box style={{ position: 'absolute', top: 70, left: 248, width: 130 }}&gt;&#10;            {['C4 512×16×16', 'C3 256×32×32', 'C2 128×64×64', 'C1  64×128×128'].map((t, i) =&gt; (&#10;                &lt;Box key={t} style={{ height: 32, marginBottom: 7, background: '#E8EFF8', border: '1px solid #3D7BD9', borderRadius: 5, justifyContent: 'center', paddingLeft: 10 }}&gt;&#10;                    &lt;Text style={{ fontSize: 13, color: '#0E3F8C', fontFamily: 'Times New Roman, serif' }}&gt;{t}&lt;/Text&gt;&#10;                &lt;/Box&gt;&#10;            ))}&#10;        &lt;/Box&gt;&#10;&#10;        {/* 解码器（LGFI + HLFG） */}&#10;        &lt;Box style={{ position: 'absolute', top: 70, left: 396, width: 120, height: 150, background: '#3D7BD9', borderRadius: 6, justifyContent: 'center', alignItems: 'center' }}&gt;&#10;            &lt;Text style={{ fontSize: 15, color: '#FFFFFF', fontWeight: 'bold', textAlign: 'center', lineHeight: 1.55 }}&gt;Transformer&#10;                &lt;br /&gt;解码器&#10;                &lt;br /&gt;&#10;                &lt;span style={{ fontSize: 13 }}&gt;(LGFI ×3)&lt;/span&gt;&#10;            &lt;/Text&gt;&#10;        &lt;/Box&gt;&#10;&#10;        {/* HLFG 引导 */}&#10;        &lt;Box style={{ position: 'absolute', top: 236, left: 248, width: 268, height: 44, background: '#0E3F8C', borderRadius: 6, justifyContent: 'center', alignItems: 'center' }}&gt;&#10;            &lt;Text style={{ fontSize: 15, color: '#FFFFFF', fontWeight: 'bold' }}&gt;HLFG 高层特征引导融合（Eq.1–3）&lt;/Text&gt;&#10;        &lt;/Box&gt;&#10;&#10;        {/* 多任务头 */}&#10;        &lt;Box style={{ position: 'absolute', top: 300, left: 132, width: 168, height: 92, background: '#E8EFF8', border: '1px solid #1E4FA8', borderRadius: 6, padding: 12 }}&gt;&#10;            &lt;Text style={{ fontSize: 14, color: '#1E4FA8', fontWeight: 'bold' }}&gt;分割头 SegBranch&lt;/Text&gt;&#10;            &lt;Box style={{ height: 6 }} /&gt;&#10;            &lt;Text style={{ fontSize: 12.5, color: '#4A5568', lineHeight: 1.5 }}&gt;3 类语义 + CE/Dice&lt;/Text&gt;&#10;        &lt;/Box&gt;&#10;        &lt;Box style={{ position: 'absolute', top: 300, left: 320, width: 196, height: 92, background: '#E8EFF8', border: '1px solid #1E4FA8', borderRadius: 6, padding: 12 }}&gt;&#10;            &lt;Text style={{ fontSize: 14, color: '#1E4FA8', fontWeight: 'bold' }}&gt;密度头 + SEDH&lt;/Text&gt;&#10;            &lt;Box style={{ height: 6 }} /&gt;&#10;            &lt;Text style={{ fontSize: 12.5, color: '#4A5568', lineHeight: 1.5 }}&gt;概率图精修密度（Eq.9–11）&lt;/Text&gt;&#10;        &lt;/Box&gt;&#10;&#10;        {/* 底部虚线：辅助监督 */}&#10;        &lt;Box style={{ position: 'absolute', top: 410, left: 132, width: 384, height: 1, borderTop: '2px dashed #8B97A8' }} /&gt;&#10;        &lt;Box style={{ position: 'absolute', top: 428, left: 132, width: 384 }}&gt;&#10;            &lt;Text style={{ fontSize: 13.5, color: '#8B97A8', textAlign: 'center' }}&gt;虚线 = 多任务辅助监督（MTL），非推理路径&lt;/Text&gt;&#10;        &lt;/Box&gt;&#10;    &lt;/Box&gt;&#10;&#10;    {/* 右侧文字 */}&#10;    &lt;Box style={{ position: 'absolute', top: 108, left: 730, width: 490 }}&gt;&#10;        &lt;Text style={{ fontSize: 30, fontWeight: 'bold', color: '#0E3F8C', lineHeight: 1.35 }}&gt;&#10;            一条主线：&lt;br /&gt;用分割辅助计数&#10;        &lt;/Text&gt;&#10;        &lt;Box style={{ height: 20 }} /&gt;&#10;        &lt;Box style={{ width: 80, height: 4, background: '#1E4FA8' }} /&gt;&#10;        &lt;Box style={{ height: 26 }} /&gt;&#10;&#10;        {[&#10;            { n: '1', t: '编码器 ResNet18', d: '提取 C1–C4 四级特征，兼顾定位与语义' },&#10;            { n: '2', t: 'LGFI 局部-全局交互', d: '窗内注意力 + 十字卷积 + 多尺度空洞卷积（Eq.4–6）' },&#10;            { n: '3', t: 'HLFG 引导融合', d: '高层特征生成通道注意力加权低层（Eq.1–3）' },&#10;            { n: '4', t: 'MTL + SEDH', d: '分割概率增强鱼区、抑制噪声，精修密度图' },&#10;        ].map((it) =&gt; (&#10;            &lt;Box key={it.n} style={{ flexDirection: 'row', gap: 16, marginBottom: 16 }}&gt;&#10;                &lt;Box style={{ width: 36, height: 36, background: '#1E4FA8', borderRadius: 18, justifyContent: 'center', alignItems: 'center', flexShrink: 0 }}&gt;&#10;                    &lt;Text style={{ fontSize: 18, color: '#FFFFFF', fontWeight: 'bold' }}&gt;{it.n}&lt;/Text&gt;&#10;                &lt;/Box&gt;&#10;                &lt;Box style={{ flex: 1, paddingTop: 2 }}&gt;&#10;                    &lt;Text style={{ fontSize: 20, fontWeight: 'bold', color: '#1A2230', lineHeight: 1.35 }}&gt;{it.t}&lt;/Text&gt;&#10;                    &lt;Box style={{ height: 6 }} /&gt;&#10;                    &lt;Text style={{ fontSize: 16, color: '#4A5568', lineHeight: 1.5 }}&gt;{it.d}&lt;/Text&gt;&#10;                &lt;/Box&gt;&#10;            &lt;/Box&gt;&#10;        ))}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04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论文方法概览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0106025" y="247650"/>
            <a:ext cx="1514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LGMFormer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结构主线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571500" y="1028700"/>
            <a:ext cx="6096000" cy="4953000"/>
          </a:xfrm>
          <a:prstGeom prst="roundRect">
            <a:avLst>
              <a:gd name="adj" fmla="val 153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00100" y="1200150"/>
            <a:ext cx="262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A5568"/>
                </a:solidFill>
                <a:latin typeface="思源黑体"/>
                <a:ea typeface="思源黑体"/>
              </a:rPr>
              <a:t>图</a:t>
            </a:r>
            <a:r>
              <a:rPr lang="en-US" sz="1275" b="1">
                <a:solidFill>
                  <a:srgbClr val="4A5568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275" b="1">
                <a:solidFill>
                  <a:srgbClr val="4A5568"/>
                </a:solidFill>
                <a:latin typeface="思源黑体"/>
                <a:ea typeface="思源黑体"/>
              </a:rPr>
              <a:t>结构复刻（按论文</a:t>
            </a:r>
            <a:r>
              <a:rPr lang="en-US" sz="1275" b="1">
                <a:solidFill>
                  <a:srgbClr val="4A5568"/>
                </a:solidFill>
                <a:latin typeface="思源黑体"/>
                <a:ea typeface="思源黑体"/>
              </a:rPr>
              <a:t xml:space="preserve"> Fig.2 </a:t>
            </a:r>
            <a:r>
              <a:rPr lang="zh-CN" sz="1275" b="1">
                <a:solidFill>
                  <a:srgbClr val="4A5568"/>
                </a:solidFill>
                <a:latin typeface="思源黑体"/>
                <a:ea typeface="思源黑体"/>
              </a:rPr>
              <a:t>重绘）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857250" y="1695450"/>
            <a:ext cx="781050" cy="1428750"/>
          </a:xfrm>
          <a:prstGeom prst="roundRect">
            <a:avLst>
              <a:gd name="adj" fmla="val 731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95375" y="2133600"/>
            <a:ext cx="304800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声呐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图像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1828800" y="1695450"/>
            <a:ext cx="914400" cy="1428750"/>
          </a:xfrm>
          <a:prstGeom prst="roundRect">
            <a:avLst>
              <a:gd name="adj" fmla="val 625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943100" y="2152650"/>
            <a:ext cx="695325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125" b="1">
                <a:solidFill>
                  <a:srgbClr val="FFFFFF"/>
                </a:solidFill>
                <a:latin typeface="思源黑体"/>
                <a:ea typeface="思源黑体"/>
              </a:rPr>
              <a:t>ResNet18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编码器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2933700" y="1695450"/>
            <a:ext cx="1238250" cy="304800"/>
          </a:xfrm>
          <a:prstGeom prst="roundRect">
            <a:avLst>
              <a:gd name="adj" fmla="val 1562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028950" y="17716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E3F8C"/>
                </a:solidFill>
                <a:latin typeface="Times New Roman"/>
                <a:ea typeface="Times New Roman"/>
              </a:rPr>
              <a:t>C4 512×16×16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2933700" y="2066925"/>
            <a:ext cx="1238250" cy="304800"/>
          </a:xfrm>
          <a:prstGeom prst="roundRect">
            <a:avLst>
              <a:gd name="adj" fmla="val 1562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028950" y="2143125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E3F8C"/>
                </a:solidFill>
                <a:latin typeface="Times New Roman"/>
                <a:ea typeface="Times New Roman"/>
              </a:rPr>
              <a:t>C3 256×32×32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2933700" y="2438400"/>
            <a:ext cx="1238250" cy="304800"/>
          </a:xfrm>
          <a:prstGeom prst="roundRect">
            <a:avLst>
              <a:gd name="adj" fmla="val 1562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3028950" y="251460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E3F8C"/>
                </a:solidFill>
                <a:latin typeface="Times New Roman"/>
                <a:ea typeface="Times New Roman"/>
              </a:rPr>
              <a:t>C2 128×64×64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2933700" y="2809875"/>
            <a:ext cx="1238250" cy="304800"/>
          </a:xfrm>
          <a:prstGeom prst="roundRect">
            <a:avLst>
              <a:gd name="adj" fmla="val 1562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028950" y="2886075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E3F8C"/>
                </a:solidFill>
                <a:latin typeface="Times New Roman"/>
                <a:ea typeface="Times New Roman"/>
              </a:rPr>
              <a:t>C1  64×128×128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4343400" y="1695450"/>
            <a:ext cx="1143000" cy="1428750"/>
          </a:xfrm>
          <a:prstGeom prst="roundRect">
            <a:avLst>
              <a:gd name="adj" fmla="val 5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476750" y="2028825"/>
            <a:ext cx="885825" cy="762000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en-US" sz="1125" b="1">
                <a:solidFill>
                  <a:srgbClr val="FFFFFF"/>
                </a:solidFill>
                <a:latin typeface="思源黑体"/>
                <a:ea typeface="思源黑体"/>
              </a:rPr>
              <a:t>Transformer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解码器</a:t>
            </a:r>
            <a:endParaRPr/>
          </a:p>
          <a:p>
            <a:pPr algn="ctr">
              <a:lnSpc>
                <a:spcPct val="155000"/>
              </a:lnSpc>
            </a:pPr>
            <a:r>
              <a:rPr lang="en-US" sz="975" b="1">
                <a:solidFill>
                  <a:srgbClr val="FFFFFF"/>
                </a:solidFill>
                <a:latin typeface="思源黑体"/>
                <a:ea typeface="思源黑体"/>
              </a:rPr>
              <a:t>(LGFI ×3)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2933700" y="3276600"/>
            <a:ext cx="2552700" cy="419100"/>
          </a:xfrm>
          <a:prstGeom prst="roundRect">
            <a:avLst>
              <a:gd name="adj" fmla="val 1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3048000" y="340042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思源黑体"/>
                <a:ea typeface="思源黑体"/>
              </a:rPr>
              <a:t xml:space="preserve">HLFG </a:t>
            </a: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高层特征引导融合（</a:t>
            </a:r>
            <a:r>
              <a:rPr lang="en-US" sz="1125" b="1">
                <a:solidFill>
                  <a:srgbClr val="FFFFFF"/>
                </a:solidFill>
                <a:latin typeface="思源黑体"/>
                <a:ea typeface="思源黑体"/>
              </a:rPr>
              <a:t>Eq.1–3</a:t>
            </a: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1828800" y="3886200"/>
            <a:ext cx="1600200" cy="876300"/>
          </a:xfrm>
          <a:prstGeom prst="roundRect">
            <a:avLst>
              <a:gd name="adj" fmla="val 6522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943100" y="4000500"/>
            <a:ext cx="137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思源黑体"/>
                <a:ea typeface="思源黑体"/>
              </a:rPr>
              <a:t>分割头</a:t>
            </a:r>
            <a:r>
              <a:rPr lang="en-US" sz="1050" b="1">
                <a:solidFill>
                  <a:srgbClr val="1E4FA8"/>
                </a:solidFill>
                <a:latin typeface="思源黑体"/>
                <a:ea typeface="思源黑体"/>
              </a:rPr>
              <a:t xml:space="preserve"> SegBranch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943100" y="4219575"/>
            <a:ext cx="13716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4A5568"/>
                </a:solidFill>
                <a:latin typeface="思源黑体"/>
                <a:ea typeface="思源黑体"/>
              </a:rPr>
              <a:t xml:space="preserve">3 </a:t>
            </a:r>
            <a:r>
              <a:rPr lang="zh-CN" sz="938">
                <a:solidFill>
                  <a:srgbClr val="4A5568"/>
                </a:solidFill>
                <a:latin typeface="思源黑体"/>
                <a:ea typeface="思源黑体"/>
              </a:rPr>
              <a:t>类语义</a:t>
            </a:r>
            <a:r>
              <a:rPr lang="en-US" sz="938">
                <a:solidFill>
                  <a:srgbClr val="4A5568"/>
                </a:solidFill>
                <a:latin typeface="思源黑体"/>
                <a:ea typeface="思源黑体"/>
              </a:rPr>
              <a:t xml:space="preserve"> + CE/Dice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3619500" y="3886200"/>
            <a:ext cx="1866900" cy="876300"/>
          </a:xfrm>
          <a:prstGeom prst="roundRect">
            <a:avLst>
              <a:gd name="adj" fmla="val 6522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3733800" y="40005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思源黑体"/>
                <a:ea typeface="思源黑体"/>
              </a:rPr>
              <a:t>密度头</a:t>
            </a:r>
            <a:r>
              <a:rPr lang="en-US" sz="1050" b="1">
                <a:solidFill>
                  <a:srgbClr val="1E4FA8"/>
                </a:solidFill>
                <a:latin typeface="思源黑体"/>
                <a:ea typeface="思源黑体"/>
              </a:rPr>
              <a:t xml:space="preserve"> + SEDH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733800" y="4219575"/>
            <a:ext cx="16383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4A5568"/>
                </a:solidFill>
                <a:latin typeface="思源黑体"/>
                <a:ea typeface="思源黑体"/>
              </a:rPr>
              <a:t>概率图精修密度（</a:t>
            </a:r>
            <a:r>
              <a:rPr lang="en-US" sz="938">
                <a:solidFill>
                  <a:srgbClr val="4A5568"/>
                </a:solidFill>
                <a:latin typeface="思源黑体"/>
                <a:ea typeface="思源黑体"/>
              </a:rPr>
              <a:t>Eq.9–11</a:t>
            </a:r>
            <a:r>
              <a:rPr lang="zh-CN" sz="938">
                <a:solidFill>
                  <a:srgbClr val="4A5568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1828800" y="4933950"/>
            <a:ext cx="3657600" cy="9525"/>
          </a:xfrm>
          <a:custGeom>
            <a:pathLst>
              <a:path w="384" h="1">
                <a:moveTo>
                  <a:pt x="0" y="0"/>
                </a:moveTo>
                <a:lnTo>
                  <a:pt x="384" y="0"/>
                </a:lnTo>
                <a:lnTo>
                  <a:pt x="384" y="2"/>
                </a:lnTo>
                <a:lnTo>
                  <a:pt x="0" y="2"/>
                </a:ln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828800" y="5105400"/>
            <a:ext cx="36576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8B97A8"/>
                </a:solidFill>
                <a:latin typeface="思源黑体"/>
                <a:ea typeface="思源黑体"/>
              </a:rPr>
              <a:t>虚线</a:t>
            </a:r>
            <a:r>
              <a:rPr lang="en-US" sz="1013">
                <a:solidFill>
                  <a:srgbClr val="8B97A8"/>
                </a:solidFill>
                <a:latin typeface="思源黑体"/>
                <a:ea typeface="思源黑体"/>
              </a:rPr>
              <a:t xml:space="preserve"> = </a:t>
            </a:r>
            <a:r>
              <a:rPr lang="zh-CN" sz="1013">
                <a:solidFill>
                  <a:srgbClr val="8B97A8"/>
                </a:solidFill>
                <a:latin typeface="思源黑体"/>
                <a:ea typeface="思源黑体"/>
              </a:rPr>
              <a:t>多任务辅助监督（</a:t>
            </a:r>
            <a:r>
              <a:rPr lang="en-US" sz="1013">
                <a:solidFill>
                  <a:srgbClr val="8B97A8"/>
                </a:solidFill>
                <a:latin typeface="思源黑体"/>
                <a:ea typeface="思源黑体"/>
              </a:rPr>
              <a:t>MTL</a:t>
            </a:r>
            <a:r>
              <a:rPr lang="zh-CN" sz="1013">
                <a:solidFill>
                  <a:srgbClr val="8B97A8"/>
                </a:solidFill>
                <a:latin typeface="思源黑体"/>
                <a:ea typeface="思源黑体"/>
              </a:rPr>
              <a:t>），非推理路径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953250" y="1028700"/>
            <a:ext cx="4667250" cy="933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E3F8C"/>
                </a:solidFill>
                <a:latin typeface="思源黑体"/>
                <a:ea typeface="思源黑体"/>
              </a:rPr>
              <a:t>一条主线：</a:t>
            </a:r>
            <a:endParaRPr/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E3F8C"/>
                </a:solidFill>
                <a:latin typeface="思源黑体"/>
                <a:ea typeface="思源黑体"/>
              </a:rPr>
              <a:t>用分割辅助计数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953250" y="2152650"/>
            <a:ext cx="7620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6953250" y="2438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067550" y="25050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448550" y="2457450"/>
            <a:ext cx="41719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编码器</a:t>
            </a: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 xml:space="preserve"> ResNet18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448550" y="2828925"/>
            <a:ext cx="4171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提取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 C1–C4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四级特征，兼顾定位与语义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6953250" y="3257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7067550" y="33242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7448550" y="3276600"/>
            <a:ext cx="41719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 xml:space="preserve">LGFI </a:t>
            </a: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局部</a:t>
            </a: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>-</a:t>
            </a: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全局交互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448550" y="3648075"/>
            <a:ext cx="4171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窗内注意力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十字卷积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多尺度空洞卷积（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>Eq.4–6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953250" y="40767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7067550" y="41433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7448550" y="4095750"/>
            <a:ext cx="41719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 xml:space="preserve">HLFG </a:t>
            </a: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引导融合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448550" y="4467225"/>
            <a:ext cx="4171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高层特征生成通道注意力加权低层（</a:t>
            </a: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>Eq.1–3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953250" y="48958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067550" y="49625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448550" y="4914900"/>
            <a:ext cx="417195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>MTL + SEDH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448550" y="5286375"/>
            <a:ext cx="4171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分割概率增强鱼区、抑制噪声，精修密度图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04 / 13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14" name="" descr="&lt;Slide style={{ width: 1280, height: 720, background: '#F7F9FC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复现条件与现实约束&lt;/Text&gt;&#10;    &lt;/Box&gt;&#10;    &lt;Box style={{ position: 'absolute', top: 26, right: 60 }}&gt;&#10;        &lt;Text style={{ fontSize: 16, color: '#B9CBE8' }}&gt;为什么必须自实现&lt;/Text&gt;&#10;    &lt;/Box&gt;&#10;&#10;    {/* 左标题栏 */}&#10;    &lt;Box style={{ position: 'absolute', top: 130, left: 60, width: 340 }}&gt;&#10;        &lt;Text style={{ fontSize: 34, fontWeight: 'bold', color: '#0E3F8C', lineHeight: 1.32 }}&gt;&#10;            两个硬约束&#10;            &lt;br /&gt;&#10;            决定复现路线&#10;        &lt;/Text&gt;&#10;        &lt;Box style={{ height: 20 }} /&gt;&#10;        &lt;Box style={{ width: 70, height: 4, background: '#1E4FA8' }} /&gt;&#10;        &lt;Box style={{ height: 24 }} /&gt;&#10;        &lt;Text style={{ fontSize: 18, color: '#4A5568', lineHeight: 1.85 }}&gt;&#10;            不是&quot;跑不出来&quot;，&#10;            &lt;br /&gt;&#10;            而是官方未公开任何&#10;            &lt;br /&gt;&#10;            可对照的实现细节。&#10;        &lt;/Text&gt;&#10;        &lt;Box style={{ height: 28 }} /&gt;&#10;        &lt;Box style={{ padding: 18, background: '#E8EFF8', borderRadius: 8, borderLeft: '5px solid #1E4FA8' }}&gt;&#10;            &lt;Text style={{ fontSize: 17, color: '#0E3F8C', lineHeight: 1.75 }}&gt;&#10;                复现策略：&lt;br /&gt;&#10;                以论文公式与图为唯一依据，&#10;                &lt;br /&gt;&#10;                逐条自实现 + 实验验证。&#10;            &lt;/Text&gt;&#10;        &lt;/Box&gt;&#10;    &lt;/Box&gt;&#10;&#10;    {/* 右侧约束列表 */}&#10;    &lt;Box style={{ position: 'absolute', top: 122, left: 460, width: 760, flexDirection: 'column', gap: 22 }}&gt;&#10;        &lt;Box style={{ background: '#FFFFFF', border: '1px solid #D6DCE5', borderTop: '5px solid #D9534F', borderRadius: 8, padding: '22px 26px' }}&gt;&#10;            &lt;Box style={{ flexDirection: 'row', alignItems: 'center', gap: 14 }}&gt;&#10;                &lt;Text style={{ fontSize: 20, fontWeight: 'bold', color: '#D9534F' }}&gt;约束一&lt;/Text&gt;&#10;                &lt;Text style={{ fontSize: 24, fontWeight: 'bold', color: '#1A2230' }}&gt;官方代码仓库为空&lt;/Text&gt;&#10;            &lt;/Box&gt;&#10;            &lt;Box style={{ height: 12 }} /&gt;&#10;            &lt;Text style={{ fontSize: 18, color: '#4A5568', lineHeight: 1.75 }}&gt;&#10;                GitHub（camerayuhang/LGMFormer）仅有初始化提交，README 标注 &quot;code will be released soon&quot;。&#10;                → 无法对齐官方实现，全部模块需从论文公式推导重写。&#10;            &lt;/Text&gt;&#10;        &lt;/Box&gt;&#10;&#10;        &lt;Box style={{ background: '#FFFFFF', border: '1px solid #D6DCE5', borderTop: '5px solid #D9534F', borderRadius: 8, padding: '22px 26px' }}&gt;&#10;            &lt;Box style={{ flexDirection: 'row', alignItems: 'center', gap: 14 }}&gt;&#10;                &lt;Text style={{ fontSize: 20, fontWeight: 'bold', color: '#D9534F' }}&gt;约束二&lt;/Text&gt;&#10;                &lt;Text style={{ fontSize: 24, fontWeight: 'bold', color: '#1A2230' }}&gt;论文关键超参未公布&lt;/Text&gt;&#10;            &lt;/Box&gt;&#10;            &lt;Box style={{ height: 12 }} /&gt;&#10;            &lt;Text style={{ fontSize: 18, color: '#4A5568', lineHeight: 1.75 }}&gt;&#10;                Transformer 解码器通道数、堆叠层数、损失权重、学习率调度等在正文中未给出。&#10;                → 需自行设定候选并靠消融实验验证，这直接导致与论文数字存在系统性偏差。&#10;            &lt;/Text&gt;&#10;        &lt;/Box&gt;&#10;&#10;        &lt;Box style={{ background: '#0E3F8C', borderRadius: 8, padding: '20px 26px' }}&gt;&#10;            &lt;Text style={{ fontSize: 18, color: '#FFFFFF', lineHeight: 1.75 }}&gt;&#10;                &lt;span style={{ fontWeight: 'bold', color: '#FFC107' }}&gt;诚实声明：&lt;/span&gt;&#10;                因此本次复现的定位是&quot;&lt;span style={{ fontWeight: 'bold' }}&gt;方法级复现&lt;/span&gt;&quot;——验证论文核心命题是否成立，&#10;                而非对齐官方逐位数值。&#10;            &lt;/Text&gt;&#10;        &lt;/Box&gt;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05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1971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复现条件与现实约束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0401300" y="2476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为什么必须自实现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71500" y="1238250"/>
            <a:ext cx="3238500" cy="1028700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2550" b="1">
                <a:solidFill>
                  <a:srgbClr val="0E3F8C"/>
                </a:solidFill>
                <a:latin typeface="思源黑体"/>
                <a:ea typeface="思源黑体"/>
              </a:rPr>
              <a:t>两个硬约束</a:t>
            </a:r>
            <a:endParaRPr/>
          </a:p>
          <a:p>
            <a:pPr>
              <a:lnSpc>
                <a:spcPct val="132000"/>
              </a:lnSpc>
            </a:pPr>
            <a:r>
              <a:rPr lang="zh-CN" sz="2550" b="1">
                <a:solidFill>
                  <a:srgbClr val="0E3F8C"/>
                </a:solidFill>
                <a:latin typeface="思源黑体"/>
                <a:ea typeface="思源黑体"/>
              </a:rPr>
              <a:t>决定复现路线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571500" y="2457450"/>
            <a:ext cx="66675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3238500" cy="1143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不是</a:t>
            </a: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跑不出来</a:t>
            </a: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，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而是官方未公开任何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可对照的实现细节。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19125" y="4133850"/>
            <a:ext cx="3238500" cy="1371600"/>
          </a:xfrm>
          <a:prstGeom prst="roundRect">
            <a:avLst>
              <a:gd name="adj" fmla="val 555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3" name=""/>
          <p:cNvSpPr/>
          <p:nvPr/>
        </p:nvSpPr>
        <p:spPr>
          <a:xfrm rot="0" flipH="0" flipV="0">
            <a:off x="619125" y="4133850"/>
            <a:ext cx="3238500" cy="1371600"/>
          </a:xfrm>
          <a:custGeom>
            <a:pathLst>
              <a:path w="340" h="144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41"/>
                </a:lnTo>
                <a:cubicBezTo>
                  <a:pt x="5" y="143"/>
                  <a:pt x="6" y="144"/>
                  <a:pt x="8" y="144"/>
                </a:cubicBezTo>
                <a:cubicBezTo>
                  <a:pt x="3" y="144"/>
                  <a:pt x="0" y="140"/>
                  <a:pt x="0" y="1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90575" y="4305300"/>
            <a:ext cx="2847975" cy="1028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0E3F8C"/>
                </a:solidFill>
                <a:latin typeface="思源黑体"/>
                <a:ea typeface="思源黑体"/>
              </a:rPr>
              <a:t>复现策略：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0E3F8C"/>
                </a:solidFill>
                <a:latin typeface="思源黑体"/>
                <a:ea typeface="思源黑体"/>
              </a:rPr>
              <a:t>以论文公式与图为唯一依据，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0E3F8C"/>
                </a:solidFill>
                <a:latin typeface="思源黑体"/>
                <a:ea typeface="思源黑体"/>
              </a:rPr>
              <a:t>逐条自实现</a:t>
            </a:r>
            <a:r>
              <a:rPr lang="en-US" sz="1275">
                <a:solidFill>
                  <a:srgbClr val="0E3F8C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275">
                <a:solidFill>
                  <a:srgbClr val="0E3F8C"/>
                </a:solidFill>
                <a:latin typeface="思源黑体"/>
                <a:ea typeface="思源黑体"/>
              </a:rPr>
              <a:t>实验验证。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4381500" y="1209675"/>
            <a:ext cx="72390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4381500" y="1209675"/>
            <a:ext cx="7239000" cy="1581150"/>
          </a:xfrm>
          <a:custGeom>
            <a:pathLst>
              <a:path w="760" h="166">
                <a:moveTo>
                  <a:pt x="752" y="0"/>
                </a:moveTo>
                <a:cubicBezTo>
                  <a:pt x="756" y="0"/>
                  <a:pt x="759" y="3"/>
                  <a:pt x="760" y="7"/>
                </a:cubicBezTo>
                <a:cubicBezTo>
                  <a:pt x="759" y="6"/>
                  <a:pt x="758" y="5"/>
                  <a:pt x="757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752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629150" y="14478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思源黑体"/>
                <a:ea typeface="思源黑体"/>
              </a:rPr>
              <a:t>约束一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5334000" y="1419225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思源黑体"/>
                <a:ea typeface="思源黑体"/>
              </a:rPr>
              <a:t>官方代码仓库为空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629150" y="1809750"/>
            <a:ext cx="6743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>GitHub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（</a:t>
            </a: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>camerayuhang/LGMFormer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）仅有初始化提交，</a:t>
            </a: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 xml:space="preserve">README 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标注</a:t>
            </a: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 xml:space="preserve"> "code will be released soon"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。</a:t>
            </a: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无法对齐官方实现，全部模块需从论文公式推导重写。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4381500" y="3000375"/>
            <a:ext cx="72390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4381500" y="3000375"/>
            <a:ext cx="7239000" cy="1581150"/>
          </a:xfrm>
          <a:custGeom>
            <a:pathLst>
              <a:path w="760" h="166">
                <a:moveTo>
                  <a:pt x="752" y="0"/>
                </a:moveTo>
                <a:cubicBezTo>
                  <a:pt x="756" y="0"/>
                  <a:pt x="759" y="3"/>
                  <a:pt x="760" y="7"/>
                </a:cubicBezTo>
                <a:cubicBezTo>
                  <a:pt x="759" y="6"/>
                  <a:pt x="758" y="5"/>
                  <a:pt x="757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752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4629150" y="32385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思源黑体"/>
                <a:ea typeface="思源黑体"/>
              </a:rPr>
              <a:t>约束二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5334000" y="3209925"/>
            <a:ext cx="205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思源黑体"/>
                <a:ea typeface="思源黑体"/>
              </a:rPr>
              <a:t>论文关键超参未公布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4629150" y="3600450"/>
            <a:ext cx="6743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 xml:space="preserve">Transformer 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解码器通道数、堆叠层数、损失权重、学习率调度等在正文中未给出。</a:t>
            </a:r>
            <a:r>
              <a:rPr lang="en-US" sz="1350">
                <a:solidFill>
                  <a:srgbClr val="4A5568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思源黑体"/>
                <a:ea typeface="思源黑体"/>
              </a:rPr>
              <a:t>需自行设定候选并靠消融实验验证，这直接导致与论文数字存在系统性偏差。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381500" y="4743450"/>
            <a:ext cx="7239000" cy="1104900"/>
          </a:xfrm>
          <a:prstGeom prst="roundRect">
            <a:avLst>
              <a:gd name="adj" fmla="val 689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4629150" y="4933950"/>
            <a:ext cx="6743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 b="1">
                <a:solidFill>
                  <a:srgbClr val="FFC107"/>
                </a:solidFill>
                <a:latin typeface="思源黑体"/>
                <a:ea typeface="思源黑体"/>
              </a:rPr>
              <a:t>诚实声明：</a:t>
            </a:r>
            <a:r>
              <a:rPr lang="zh-CN" sz="1350">
                <a:solidFill>
                  <a:srgbClr val="FFFFFF"/>
                </a:solidFill>
                <a:latin typeface="思源黑体"/>
                <a:ea typeface="思源黑体"/>
              </a:rPr>
              <a:t>因此本次复现的定位是</a:t>
            </a:r>
            <a:r>
              <a:rPr lang="en-US" sz="1350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方法级复现</a:t>
            </a:r>
            <a:r>
              <a:rPr lang="en-US" sz="1350">
                <a:solidFill>
                  <a:srgbClr val="FFFFFF"/>
                </a:solidFill>
                <a:latin typeface="思源黑体"/>
                <a:ea typeface="思源黑体"/>
              </a:rPr>
              <a:t>"——</a:t>
            </a:r>
            <a:r>
              <a:rPr lang="zh-CN" sz="1350">
                <a:solidFill>
                  <a:srgbClr val="FFFFFF"/>
                </a:solidFill>
                <a:latin typeface="思源黑体"/>
                <a:ea typeface="思源黑体"/>
              </a:rPr>
              <a:t>验证论文核心命题是否成立，</a:t>
            </a:r>
            <a:r>
              <a:rPr lang="en-US" sz="1350">
                <a:solidFill>
                  <a:srgbClr val="FFFFFF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350">
                <a:solidFill>
                  <a:srgbClr val="FFFFFF"/>
                </a:solidFill>
                <a:latin typeface="思源黑体"/>
                <a:ea typeface="思源黑体"/>
              </a:rPr>
              <a:t>而非对齐官方逐位数值。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05 / 13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39" name="" descr="&lt;Slide style={{ width: 1280, height: 720, background: '#F7F9FC', position: 'relative', overflow: 'hidden', fontFamily: '思源黑体, Microsoft YaHei, sans-serif' }}&gt;&#10;    {/* 右侧深蓝竖块（与 P3 左右相反） */}&#10;    &lt;Box style={{ position: 'absolute', top: 0, right: 0, width: 430, height: 720, background: '#0E3F8C' }} /&gt;&#10;    {/* 巨型数字 02 */}&#10;    &lt;Box style={{ position: 'absolute', top: 150, right: 60, alignItems: 'flex-end' }}&gt;&#10;        &lt;Text style={{ fontSize: 200, fontWeight: 'bold', color: '#3D7BD9', fontFamily: 'Times New Roman, serif', lineHeight: 1, opacity: 0.55 }}&gt;02&lt;/Text&gt;&#10;    &lt;/Box&gt;&#10;    &lt;Box style={{ position: 'absolute', top: 390, right: 66, width: 310, flexDirection: 'column', alignItems: 'flex-end' }}&gt;&#10;        &lt;Box style={{ width: 80, height: 5, background: '#FFC107' }} /&gt;&#10;        &lt;Box style={{ height: 26 }} /&gt;&#10;        &lt;Text style={{ fontSize: 22, color: '#B9CBE8', lineHeight: 1.7, textAlign: 'right' }}&gt;&#10;            数据侧 · 基线 · 四个核心模块&#10;        &lt;/Text&gt;&#10;        &lt;Box style={{ height: 48 }} /&gt;&#10;        &lt;Text style={{ fontSize: 18, color: '#8FB0DC', lineHeight: 1.85, textAlign: 'right' }}&gt;&#10;            全部按 Eq.1–17&#10;            &lt;br /&gt;&#10;            与 Fig.2–5 实现&#10;        &lt;/Text&gt;&#10;    &lt;/Box&gt;&#10;&#10;    {/* 左侧内容区 */}&#10;    &lt;Box style={{ position: 'absolute', top: 130, left: 60, width: 720 }}&gt;&#10;        &lt;Text style={{ fontSize: 52, fontWeight: 'bold', color: '#0E3F8C', lineHeight: 1.25 }}&gt;&#10;            实现与方法&#10;        &lt;/Text&gt;&#10;        &lt;Box style={{ height: 24 }} /&gt;&#10;        &lt;Box style={{ width: 100, height: 5, background: '#1E4FA8' }} /&gt;&#10;        &lt;Box style={{ height: 34 }} /&gt;&#10;        &lt;Text style={{ fontSize: 22, color: '#1A2230', lineHeight: 1.95 }}&gt;&#10;            数据侧用 &lt;span style={{ fontWeight: 'bold', color: '#1E4FA8' }}&gt;Otsu 阈值法&lt;/span&gt;&#10;            自动生成三类分割标签，搭建 &lt;span style={{ fontWeight: 'bold', color: '#1E4FA8' }}&gt;ResNet18 + U-Net&lt;/span&gt; 密度回归基线，&#10;            再逐个补齐论文的四个创新模块。&#10;        &lt;/Text&gt;&#10;        &lt;Box style={{ height: 26 }} /&gt;&#10;        &lt;Text style={{ fontSize: 22, color: '#1A2230', lineHeight: 1.95 }}&gt;&#10;            本部分给出&lt;strong&gt;模块级实现对照&lt;/strong&gt;：论文公式 → 我的代码 → 验证方式，逐条可追溯。&#10;        &lt;/Text&gt;&#10;    &lt;/Box&gt;&#10;&#10;    {/* 左侧底部：三个要点条 */}&#10;    &lt;Box style={{ position: 'absolute', bottom: 70, left: 60, width: 720, flexDirection: 'row', gap: 16 }}&gt;&#10;        {[&#10;            { k: '数据侧', v: '500 张三类标签' },&#10;            { k: '基线', v: 'U-Net 密度回归' },&#10;            { k: '模块', v: 'HLFG / LGFI / SEDH' },&#10;        ].map((it) =&gt; (&#10;            &lt;Box key={it.k} style={{ flex: 1, background: '#FFFFFF', border: '1px solid #D6DCE5', borderRadius: 8, padding: '16px 18px' }}&gt;&#10;                &lt;Text style={{ fontSize: 15, color: '#3D7BD9', fontWeight: 'bold', letterSpacing: 1 }}&gt;{it.k}&lt;/Text&gt;&#10;                &lt;Box style={{ height: 8 }} /&gt;&#10;                &lt;Text style={{ fontSize: 20, color: '#1A2230', fontWeight: 'bold' }}&gt;{it.v}&lt;/Text&gt;&#10;            &lt;/Box&gt;&#10;        ))}&#10;    &lt;/Box&gt;&#10;&#10;    {/* C 页脚 */}&#10;    &lt;Box style={{ position: 'absolute', bottom: 24, left: 60 }}&gt;&#10;        &lt;Text style={{ fontSize: 15, color: '#8B97A8' }}&gt;二、实现与方法&lt;/Text&gt;&#10;    &lt;/Box&gt;&#10;    &lt;Box style={{ position: 'absolute', bottom: 24, right: 500 }}&gt;&#10;        &lt;Text style={{ fontSize: 15, color: '#1E4FA8', fontWeight: 'bold', fontFamily: 'Times New Roman, serif' }}&gt;06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8096250" y="0"/>
            <a:ext cx="40957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9715500" y="1428750"/>
            <a:ext cx="1905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>
                    <a:alpha val="55000"/>
                  </a:srgbClr>
                </a:solidFill>
                <a:latin typeface="Times New Roman"/>
                <a:ea typeface="Times New Roman"/>
              </a:rPr>
              <a:t>02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10801350" y="37147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905875" y="4010025"/>
            <a:ext cx="2657475" cy="428625"/>
          </a:xfrm>
          <a:prstGeom prst="rect"/>
        </p:spPr>
        <p:txBody>
          <a:bodyPr wrap="none" lIns="0" tIns="0" rIns="0" bIns="0"/>
          <a:p>
            <a:pPr algn="r">
              <a:lnSpc>
                <a:spcPct val="170000"/>
              </a:lnSpc>
            </a:pP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数据侧</a:t>
            </a:r>
            <a:r>
              <a:rPr lang="en-US" sz="165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基线</a:t>
            </a:r>
            <a:r>
              <a:rPr lang="en-US" sz="165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650">
                <a:solidFill>
                  <a:srgbClr val="B9CBE8"/>
                </a:solidFill>
                <a:latin typeface="思源黑体"/>
                <a:ea typeface="思源黑体"/>
              </a:rPr>
              <a:t>四个核心模块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0353675" y="4895850"/>
            <a:ext cx="1209675" cy="762000"/>
          </a:xfrm>
          <a:prstGeom prst="rect"/>
        </p:spPr>
        <p:txBody>
          <a:bodyPr wrap="none" lIns="0" tIns="0" rIns="0" bIns="0"/>
          <a:p>
            <a:pPr algn="r">
              <a:lnSpc>
                <a:spcPct val="185000"/>
              </a:lnSpc>
            </a:pP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全部按</a:t>
            </a:r>
            <a:r>
              <a:rPr lang="en-US" sz="1350">
                <a:solidFill>
                  <a:srgbClr val="8FB0DC"/>
                </a:solidFill>
                <a:latin typeface="思源黑体"/>
                <a:ea typeface="思源黑体"/>
              </a:rPr>
              <a:t xml:space="preserve"> Eq.1–17</a:t>
            </a:r>
            <a:endParaRPr/>
          </a:p>
          <a:p>
            <a:pPr algn="r">
              <a:lnSpc>
                <a:spcPct val="185000"/>
              </a:lnSpc>
            </a:pP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与</a:t>
            </a:r>
            <a:r>
              <a:rPr lang="en-US" sz="1350">
                <a:solidFill>
                  <a:srgbClr val="8FB0DC"/>
                </a:solidFill>
                <a:latin typeface="思源黑体"/>
                <a:ea typeface="思源黑体"/>
              </a:rPr>
              <a:t xml:space="preserve"> Fig.2–5 </a:t>
            </a:r>
            <a:r>
              <a:rPr lang="zh-CN" sz="1350">
                <a:solidFill>
                  <a:srgbClr val="8FB0DC"/>
                </a:solidFill>
                <a:latin typeface="思源黑体"/>
                <a:ea typeface="思源黑体"/>
              </a:rPr>
              <a:t>实现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71500" y="1238250"/>
            <a:ext cx="6858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0E3F8C"/>
                </a:solidFill>
                <a:latin typeface="思源黑体"/>
                <a:ea typeface="思源黑体"/>
              </a:rPr>
              <a:t>实现与方法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571500" y="2209800"/>
            <a:ext cx="9525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571500" y="2581275"/>
            <a:ext cx="6858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数据侧用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650" b="1">
                <a:solidFill>
                  <a:srgbClr val="1E4FA8"/>
                </a:solidFill>
                <a:latin typeface="思源黑体"/>
                <a:ea typeface="思源黑体"/>
              </a:rPr>
              <a:t xml:space="preserve">Otsu </a:t>
            </a:r>
            <a:r>
              <a:rPr lang="zh-CN" sz="1650" b="1">
                <a:solidFill>
                  <a:srgbClr val="1E4FA8"/>
                </a:solidFill>
                <a:latin typeface="思源黑体"/>
                <a:ea typeface="思源黑体"/>
              </a:rPr>
              <a:t>阈值法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自动生成三类分割标签，搭建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650" b="1">
                <a:solidFill>
                  <a:srgbClr val="1E4FA8"/>
                </a:solidFill>
                <a:latin typeface="思源黑体"/>
                <a:ea typeface="思源黑体"/>
              </a:rPr>
              <a:t>ResNet18 + U-Net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密度回归基线，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再逐个补齐论文的四个创新模块。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571500" y="3810000"/>
            <a:ext cx="6858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本部分给出</a:t>
            </a:r>
            <a:r>
              <a:rPr lang="zh-CN" sz="1650" b="1">
                <a:solidFill>
                  <a:srgbClr val="1A2230"/>
                </a:solidFill>
                <a:latin typeface="思源黑体"/>
                <a:ea typeface="思源黑体"/>
              </a:rPr>
              <a:t>模块级实现对照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：论文公式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我的代码</a:t>
            </a:r>
            <a:r>
              <a:rPr lang="en-US" sz="1650">
                <a:solidFill>
                  <a:srgbClr val="1A2230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650">
                <a:solidFill>
                  <a:srgbClr val="1A2230"/>
                </a:solidFill>
                <a:latin typeface="思源黑体"/>
                <a:ea typeface="思源黑体"/>
              </a:rPr>
              <a:t>验证方式，逐条可追溯。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571500" y="5181600"/>
            <a:ext cx="2181225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42950" y="533400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思源黑体"/>
                <a:ea typeface="思源黑体"/>
              </a:rPr>
              <a:t>数据侧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42950" y="5581650"/>
            <a:ext cx="1838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 xml:space="preserve">500 </a:t>
            </a: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张三类标签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2905125" y="5181600"/>
            <a:ext cx="21907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076575" y="53340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思源黑体"/>
                <a:ea typeface="思源黑体"/>
              </a:rPr>
              <a:t>基线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076575" y="5581650"/>
            <a:ext cx="1847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 xml:space="preserve">U-Net </a:t>
            </a:r>
            <a:r>
              <a:rPr lang="zh-CN" sz="1500" b="1">
                <a:solidFill>
                  <a:srgbClr val="1A2230"/>
                </a:solidFill>
                <a:latin typeface="思源黑体"/>
                <a:ea typeface="思源黑体"/>
              </a:rPr>
              <a:t>密度回归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248275" y="5181600"/>
            <a:ext cx="2181225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419725" y="533400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思源黑体"/>
                <a:ea typeface="思源黑体"/>
              </a:rPr>
              <a:t>模块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419725" y="5581650"/>
            <a:ext cx="18383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思源黑体"/>
                <a:ea typeface="思源黑体"/>
              </a:rPr>
              <a:t>HLFG / LGFI / SEDH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二、实现与方法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029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06 / 13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61" name="" descr="&lt;Slide style={{ width: 1280, height: 720, background: '#FFFFFF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四个核心模块的实现对照&lt;/Text&gt;&#10;    &lt;/Box&gt;&#10;    &lt;Box style={{ position: 'absolute', top: 26, right: 60 }}&gt;&#10;        &lt;Text style={{ fontSize: 16, color: '#B9CBE8' }}&gt;论文公式 → 代码 → 验证&lt;/Text&gt;&#10;    &lt;/Box&gt;&#10;&#10;    {/* 左栏 60%：四个模块卡 */}&#10;    &lt;Box style={{ position: 'absolute', top: 108, left: 60, width: 700, flexDirection: 'column', gap: 16 }}&gt;&#10;        {[&#10;            { n: 'HLFG', eq: 'Eq.1–3', d: '高层特征 GAP → 通道注意力（压缩再扩张 ÷4）→ softmax 生成 α/β/γ 加权低层特征。', tag: '引导融合' },&#10;            { n: 'LGFI', eq: 'Eq.4–6', d: '窗内多头自注意力（WMSA, win=8, head=4）+ 十字形卷积 + 多尺度空洞卷积 MDC。', tag: '局部-全局交互' },&#10;            { n: 'SEDH', eq: 'Eq.9–11', d: '用分割概率图 Pf / Pn 增强鱼区、抑制噪声，再精修密度图。', tag: '密度精修' },&#10;            { n: 'MTL', eq: 'CE+Dice', d: '三类分割头辅助监督骨干，与密度回归共享编码器。', tag: '多任务学习' },&#10;        ].map((it) =&gt; (&#10;            &lt;Box key={it.n} style={{ background: '#F7F9FC', border: '1px solid #D6DCE5', borderLeft: '5px solid #1E4FA8', borderRadius: 6, padding: '14px 20px', flexDirection: 'row', gap: 16 }}&gt;&#10;                &lt;Box style={{ width: 150 }}&gt;&#10;                    &lt;Text style={{ fontSize: 21, fontWeight: 'bold', color: '#0E3F8C', fontFamily: 'Times New Roman, serif' }}&gt;{it.n}&lt;/Text&gt;&#10;                    &lt;Box style={{ height: 4 }} /&gt;&#10;                    &lt;Text style={{ fontSize: 14, color: '#3D7BD9', fontFamily: 'Times New Roman, serif' }}&gt;{it.eq}&lt;/Text&gt;&#10;                &lt;/Box&gt;&#10;                &lt;Box style={{ flex: 1 }}&gt;&#10;                    &lt;Text style={{ fontSize: 16.5, color: '#4A5568', lineHeight: 1.6 }}&gt;{it.d}&lt;/Text&gt;&#10;                &lt;/Box&gt;&#10;            &lt;/Box&gt;&#10;        ))}&#10;    &lt;/Box&gt;&#10;&#10;    {/* 右栏 40%：关键发现 */}&#10;    &lt;Box style={{ position: 'absolute', top: 108, left: 790, width: 430 }}&gt;&#10;        &lt;Text style={{ fontSize: 24, fontWeight: 'bold', color: '#0E3F8C', lineHeight: 1.35 }}&gt;&#10;            实现中定位到的&lt;br /&gt;两个系统性问题&#10;        &lt;/Text&gt;&#10;        &lt;Box style={{ height: 18 }} /&gt;&#10;        &lt;Box style={{ width: 70, height: 4, background: '#1E4FA8' }} /&gt;&#10;        &lt;Box style={{ height: 24 }} /&gt;&#10;&#10;        &lt;Box style={{ background: '#FFFFFF', border: '1px solid #D9534F', borderRadius: 8, padding: '18px 20px' }}&gt;&#10;            &lt;Text style={{ fontSize: 16, fontWeight: 'bold', color: '#D9534F' }}&gt;问题一&lt;/Text&gt;&#10;            &lt;Box style={{ height: 10 }} /&gt;&#10;            &lt;Text style={{ fontSize: 17, color: '#1A2230', fontWeight: 'bold', lineHeight: 1.5 }}&gt;&#10;                HLFG Eq.3 直接融合会破坏跳连&#10;            &lt;/Text&gt;&#10;            &lt;Box style={{ height: 8 }} /&gt;&#10;            &lt;Text style={{ fontSize: 15.5, color: '#4A5568', lineHeight: 1.6 }}&gt;&#10;                按原文 α/β/γ 加权后，低层细节被过度抑制，U-Net 跳连失效。改用拼接式融合（cat3）后恢复。&#10;            &lt;/Text&gt;&#10;        &lt;/Box&gt;&#10;&#10;        &lt;Box style={{ height: 18 }} /&gt;&#10;&#10;        &lt;Box style={{ background: '#FFFFFF', border: '1px solid #D9534F', borderRadius: 8, padding: '18px 20px' }}&gt;&#10;            &lt;Text style={{ fontSize: 16, fontWeight: 'bold', color: '#D9534F' }}&gt;问题二&lt;/Text&gt;&#10;            &lt;Box style={{ height: 10 }} /&gt;&#10;            &lt;Text style={{ fontSize: 17, color: '#1A2230', fontWeight: 'bold', lineHeight: 1.5 }}&gt;&#10;                SEDH 类别索引与数据约定相反&#10;            &lt;/Text&gt;&#10;            &lt;Box style={{ height: 8 }} /&gt;&#10;            &lt;Text style={{ fontSize: 15.5, color: '#4A5568', lineHeight: 1.6 }}&gt;&#10;                原实现取 prob[:,0:1]/[:,1:2] 对应背景/鱼，与标签约定（0=背景,1=鱼,2=噪声）颠倒，会灾难性反转精修方向。已修正为 [:,1:2]/[:,2:3]。&#10;            &lt;/Text&gt;&#10;        &lt;/Box&gt;&#10;&#10;        &lt;Box style={{ height: 18 }} /&gt;&#10;        &lt;Box style={{ background: '#0E3F8C', borderRadius: 8, padding: '16px 20px' }}&gt;&#10;            &lt;Text style={{ fontSize: 15.5, color: '#FFFFFF', lineHeight: 1.65 }}&gt;&#10;                这两个问题不修，实验数字会完全失真——是复现过程中最关键的两处排障。&#10;            &lt;/Text&gt;&#10;        &lt;/Box&gt;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07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240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四个核心模块的实现对照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9915525" y="247650"/>
            <a:ext cx="1704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论文公式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代码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验证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619125" y="1028700"/>
            <a:ext cx="6667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619125" y="1028700"/>
            <a:ext cx="6667500" cy="876300"/>
          </a:xfrm>
          <a:custGeom>
            <a:pathLst>
              <a:path w="700" h="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1"/>
                </a:lnTo>
                <a:cubicBezTo>
                  <a:pt x="5" y="92"/>
                  <a:pt x="5" y="92"/>
                  <a:pt x="6" y="92"/>
                </a:cubicBezTo>
                <a:cubicBezTo>
                  <a:pt x="3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09625" y="11620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Times New Roman"/>
                <a:ea typeface="Times New Roman"/>
              </a:rPr>
              <a:t>HLFG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09625" y="1447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7BD9"/>
                </a:solidFill>
                <a:latin typeface="Times New Roman"/>
                <a:ea typeface="Times New Roman"/>
              </a:rPr>
              <a:t>Eq.1–3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2390775" y="1162050"/>
            <a:ext cx="46577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高层特征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GAP →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通道注意力（压缩再扩张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÷4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）→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softmax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生成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α/β/γ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加权低层特征。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19125" y="2057400"/>
            <a:ext cx="6667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619125" y="2057400"/>
            <a:ext cx="6667500" cy="876300"/>
          </a:xfrm>
          <a:custGeom>
            <a:pathLst>
              <a:path w="700" h="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1"/>
                </a:lnTo>
                <a:cubicBezTo>
                  <a:pt x="5" y="92"/>
                  <a:pt x="5" y="92"/>
                  <a:pt x="6" y="92"/>
                </a:cubicBezTo>
                <a:cubicBezTo>
                  <a:pt x="3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09625" y="21907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Times New Roman"/>
                <a:ea typeface="Times New Roman"/>
              </a:rPr>
              <a:t>LGFI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09625" y="24765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7BD9"/>
                </a:solidFill>
                <a:latin typeface="Times New Roman"/>
                <a:ea typeface="Times New Roman"/>
              </a:rPr>
              <a:t>Eq.4–6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2390775" y="2190750"/>
            <a:ext cx="46577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窗内多头自注意力（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>WMSA, win=8, head=4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）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+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十字形卷积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多尺度空洞卷积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MDC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19125" y="3086100"/>
            <a:ext cx="6667500" cy="71437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619125" y="3086100"/>
            <a:ext cx="6667500" cy="714375"/>
          </a:xfrm>
          <a:custGeom>
            <a:pathLst>
              <a:path w="700" h="75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4"/>
                </a:lnTo>
                <a:cubicBezTo>
                  <a:pt x="5" y="75"/>
                  <a:pt x="5" y="75"/>
                  <a:pt x="6" y="75"/>
                </a:cubicBezTo>
                <a:cubicBezTo>
                  <a:pt x="3" y="75"/>
                  <a:pt x="0" y="72"/>
                  <a:pt x="0" y="6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09625" y="32194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Times New Roman"/>
                <a:ea typeface="Times New Roman"/>
              </a:rPr>
              <a:t>SEDH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09625" y="35052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7BD9"/>
                </a:solidFill>
                <a:latin typeface="Times New Roman"/>
                <a:ea typeface="Times New Roman"/>
              </a:rPr>
              <a:t>Eq.9–11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2390775" y="3219450"/>
            <a:ext cx="46577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用分割概率图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Pf / Pn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增强鱼区、抑制噪声，再精修密度图。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19125" y="3952875"/>
            <a:ext cx="6667500" cy="71437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619125" y="3952875"/>
            <a:ext cx="6667500" cy="714375"/>
          </a:xfrm>
          <a:custGeom>
            <a:pathLst>
              <a:path w="700" h="75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4"/>
                </a:lnTo>
                <a:cubicBezTo>
                  <a:pt x="5" y="75"/>
                  <a:pt x="5" y="75"/>
                  <a:pt x="6" y="75"/>
                </a:cubicBezTo>
                <a:cubicBezTo>
                  <a:pt x="3" y="75"/>
                  <a:pt x="0" y="72"/>
                  <a:pt x="0" y="6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09625" y="4086225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Times New Roman"/>
                <a:ea typeface="Times New Roman"/>
              </a:rPr>
              <a:t>MTL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09625" y="4371975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7BD9"/>
                </a:solidFill>
                <a:latin typeface="Times New Roman"/>
                <a:ea typeface="Times New Roman"/>
              </a:rPr>
              <a:t>CE+Dice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2390775" y="4086225"/>
            <a:ext cx="46577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三类分割头辅助监督骨干，与密度回归共享编码器。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524750" y="1028700"/>
            <a:ext cx="4095750" cy="742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E3F8C"/>
                </a:solidFill>
                <a:latin typeface="思源黑体"/>
                <a:ea typeface="思源黑体"/>
              </a:rPr>
              <a:t>实现中定位到的</a:t>
            </a:r>
            <a:endParaRPr/>
          </a:p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E3F8C"/>
                </a:solidFill>
                <a:latin typeface="思源黑体"/>
                <a:ea typeface="思源黑体"/>
              </a:rPr>
              <a:t>两个系统性问题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7524750" y="1943100"/>
            <a:ext cx="66675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7524750" y="2209800"/>
            <a:ext cx="40957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715250" y="2381250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思源黑体"/>
                <a:ea typeface="思源黑体"/>
              </a:rPr>
              <a:t>问题一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7715250" y="2667000"/>
            <a:ext cx="37147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1A2230"/>
                </a:solidFill>
                <a:latin typeface="思源黑体"/>
                <a:ea typeface="思源黑体"/>
              </a:rPr>
              <a:t xml:space="preserve">HLFG Eq.3 </a:t>
            </a:r>
            <a:r>
              <a:rPr lang="zh-CN" sz="1275" b="1">
                <a:solidFill>
                  <a:srgbClr val="1A2230"/>
                </a:solidFill>
                <a:latin typeface="思源黑体"/>
                <a:ea typeface="思源黑体"/>
              </a:rPr>
              <a:t>直接融合会破坏跳连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715250" y="3038475"/>
            <a:ext cx="3714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按原文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α/β/γ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加权后，低层细节被过度抑制，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U-Net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跳连失效。改用拼接式融合（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cat3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）后恢复。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7524750" y="3952875"/>
            <a:ext cx="4095750" cy="1857375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715250" y="4124325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思源黑体"/>
                <a:ea typeface="思源黑体"/>
              </a:rPr>
              <a:t>问题二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715250" y="4410075"/>
            <a:ext cx="37147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1A2230"/>
                </a:solidFill>
                <a:latin typeface="思源黑体"/>
                <a:ea typeface="思源黑体"/>
              </a:rPr>
              <a:t xml:space="preserve">SEDH </a:t>
            </a:r>
            <a:r>
              <a:rPr lang="zh-CN" sz="1275" b="1">
                <a:solidFill>
                  <a:srgbClr val="1A2230"/>
                </a:solidFill>
                <a:latin typeface="思源黑体"/>
                <a:ea typeface="思源黑体"/>
              </a:rPr>
              <a:t>类别索引与数据约定相反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715250" y="4781550"/>
            <a:ext cx="37147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原实现取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prob[:,0:1]/[:,1:2]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对应背景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/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鱼，与标签约定（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0=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背景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,1=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鱼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,2=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噪声）颠倒，会灾难性反转精修方向。已修正为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[:,1:2]/[:,2:3]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7524750" y="5981700"/>
            <a:ext cx="4095750" cy="895350"/>
          </a:xfrm>
          <a:custGeom>
            <a:pathLst>
              <a:path w="430" h="94">
                <a:moveTo>
                  <a:pt x="422" y="0"/>
                </a:moveTo>
                <a:cubicBezTo>
                  <a:pt x="427" y="0"/>
                  <a:pt x="430" y="4"/>
                  <a:pt x="430" y="8"/>
                </a:cubicBezTo>
                <a:lnTo>
                  <a:pt x="430" y="86"/>
                </a:lnTo>
                <a:cubicBezTo>
                  <a:pt x="430" y="88"/>
                  <a:pt x="429" y="90"/>
                  <a:pt x="427" y="92"/>
                </a:cubicBezTo>
                <a:lnTo>
                  <a:pt x="3" y="92"/>
                </a:lnTo>
                <a:cubicBezTo>
                  <a:pt x="1" y="90"/>
                  <a:pt x="0" y="88"/>
                  <a:pt x="0" y="86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422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715250" y="6134100"/>
            <a:ext cx="3714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FFFFFF"/>
                </a:solidFill>
                <a:latin typeface="思源黑体"/>
                <a:ea typeface="思源黑体"/>
              </a:rPr>
              <a:t>这两个问题不修，实验数字会完全失真——是复现过程中最关键的两处排障。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07 / 13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7" name="" descr="&lt;Slide style={{ width: 1280, height: 720, background: '#FFFFFF', position: 'relative', overflow: 'hidden', fontFamily: '思源黑体, Microsoft YaHei, sans-serif' }}&gt;&#13;&#10;    {/* A 页眉 */}&#13;&#10;    &lt;Box style={{ position: 'absolute', top: 0, left: 0, width: 1280, height: 72, background: '#1E4FA8' }} /&gt;&#13;&#10;    &lt;Box style={{ position: 'absolute', top: 22, left: 60 }}&gt;&#13;&#10;        &lt;Text style={{ fontSize: 22, fontWeight: 'bold', color: '#FFFFFF', letterSpacing: 1 }}&gt;四个核心模块的实现对照&lt;/Text&gt;&#13;&#10;    &lt;/Box&gt;&#13;&#10;    &lt;Box style={{ position: 'absolute', top: 26, right: 60 }}&gt;&#13;&#10;        &lt;Text style={{ fontSize: 16, color: '#B9CBE8' }}&gt;论文公式 → 代码 → 验证&lt;/Text&gt;&#13;&#10;    &lt;/Box&gt;&#13;&#10;&#13;&#10;    {/* 左栏 60%：四个模块卡 */}&#13;&#10;    &lt;Box style={{ position: 'absolute', top: 108, left: 60, width: 700, flexDirection: 'column', gap: 16 }}&gt;&#13;&#10;        {[&#13;&#10;            { n: 'HLFG', eq: 'Eq.1–3', d: '高层特征 GAP → 通道注意力（压缩再扩张 ÷4）→ softmax 生成 α/β/γ 加权低层特征。', tag: '引导融合' },&#13;&#10;            { n: 'LGFI', eq: 'Eq.4–6', d: '窗内多头自注意力（WMSA, win=8, head=4）+ 十字形卷积 + 多尺度空洞卷积 MDC。', tag: '局部-全局交互' },&#13;&#10;            { n: 'SEDH', eq: 'Eq.9–11', d: '用分割概率图 Pf / Pn 增强鱼区、抑制噪声，再精修密度图。', tag: '密度精修' },&#13;&#10;            { n: 'MTL', eq: 'CE+Dice', d: '三类分割头辅助监督骨干，与密度回归共享编码器。', tag: '多任务学习' },&#13;&#10;        ].map((it) =&gt; (&#13;&#10;            &lt;Box key={it.n} style={{ background: '#F7F9FC', border: '1px solid #D6DCE5', borderLeft: '5px solid #1E4FA8', borderRadius: 6, padding: '14px 20px', flexDirection: 'row', gap: 16 }}&gt;&#13;&#10;                &lt;Box style={{ width: 150 }}&gt;&#13;&#10;                    &lt;Text style={{ fontSize: 21, fontWeight: 'bold', color: '#0E3F8C', fontFamily: 'Times New Roman, serif' }}&gt;{it.n}&lt;/Text&gt;&#13;&#10;                    &lt;Box style={{ height: 4 }} /&gt;&#13;&#10;                    &lt;Text style={{ fontSize: 14, color: '#3D7BD9', fontFamily: 'Times New Roman, serif' }}&gt;{it.eq}&lt;/Text&gt;&#13;&#10;                &lt;/Box&gt;&#13;&#10;                &lt;Box style={{ flex: 1 }}&gt;&#13;&#10;                    &lt;Text style={{ fontSize: 16.5, color: '#4A5568', lineHeight: 1.6 }}&gt;{it.d}&lt;/Text&gt;&#13;&#10;                &lt;/Box&gt;&#13;&#10;            &lt;/Box&gt;&#13;&#10;        ))}&#13;&#10;    &lt;/Box&gt;&#13;&#10;&#13;&#10;    {/* 右栏 40%：关键发现 */}&#13;&#10;    &lt;Box style={{ position: 'absolute', top: 108, left: 790, width: 430 }}&gt;&#13;&#10;        &lt;Text style={{ fontSize: 24, fontWeight: 'bold', color: '#0E3F8C', lineHeight: 1.35 }}&gt;&#13;&#10;            实现中定位到的&lt;br /&gt;两个系统性问题&#13;&#10;        &lt;/Text&gt;&#13;&#10;        &lt;Box style={{ height: 18 }} /&gt;&#13;&#10;        &lt;Box style={{ width: 70, height: 4, background: '#1E4FA8' }} /&gt;&#13;&#10;        &lt;Box style={{ height: 24 }} /&gt;&#13;&#10;&#13;&#10;        &lt;Box style={{ background: '#FFFFFF', border: '1px solid #D9534F', borderRadius: 8, padding: '18px 20px' }}&gt;&#13;&#10;            &lt;Text style={{ fontSize: 16, fontWeight: 'bold', color: '#D9534F' }}&gt;问题一&lt;/Text&gt;&#13;&#10;            &lt;Box style={{ height: 10 }} /&gt;&#13;&#10;            &lt;Text style={{ fontSize: 17, color: '#1A2230', fontWeight: 'bold', lineHeight: 1.5 }}&gt;&#13;&#10;                HLFG Eq.3 直接融合会破坏跳连&#13;&#10;            &lt;/Text&gt;&#13;&#10;            &lt;Box style={{ height: 8 }} /&gt;&#13;&#10;            &lt;Text style={{ fontSize: 15.5, color: '#4A5568', lineHeight: 1.6 }}&gt;&#13;&#10;                按原文 α/β/γ 加权后，低层细节被过度抑制，U-Net 跳连失效。改用拼接式融合（cat3）后恢复。&#13;&#10;            &lt;/Text&gt;&#13;&#10;        &lt;/Box&gt;&#13;&#10;&#13;&#10;        &lt;Box style={{ height: 14 }} /&gt;&#13;&#10;&#13;&#10;        &lt;Box style={{ background: '#FFFFFF', border: '1px solid #D9534F', borderRadius: 8, padding: '18px 20px' }}&gt;&#13;&#10;            &lt;Text style={{ fontSize: 16, fontWeight: 'bold', color: '#D9534F' }}&gt;问题二&lt;/Text&gt;&#13;&#10;            &lt;Box style={{ height: 10 }} /&gt;&#13;&#10;            &lt;Text style={{ fontSize: 17, color: '#1A2230', fontWeight: 'bold', lineHeight: 1.5 }}&gt;&#13;&#10;                SEDH 类别索引与数据约定相反&#13;&#10;            &lt;/Text&gt;&#13;&#10;            &lt;Box style={{ height: 8 }} /&gt;&#13;&#10;            &lt;Text style={{ fontSize: 15.5, color: '#4A5568', lineHeight: 1.6 }}&gt;&#13;&#10;                原实现取 prob[:,0:1]/[:,1:2] 对应背景/鱼，与标签约定（0=背景,1=鱼,2=噪声）颠倒，会灾难性反转精修方向。已修正为 [:,1:2]/[:,2:3]。&#13;&#10;            &lt;/Text&gt;&#13;&#10;        &lt;/Box&gt;&#13;&#10;&#13;&#10;        &lt;Box style={{ height: 18 }} /&gt;&#13;&#10;        &lt;Box style={{ background: '#0E3F8C', borderRadius: 8, padding: '16px 20px' }}&gt;&#13;&#10;            &lt;Text style={{ fontSize: 15, color: '#FFFFFF', lineHeight: 1.55 }}&gt;&#13;&#10;                这两个问题不修，实验数字会完全失真——是复现过程中最关键的两处排障。&#13;&#10;            &lt;/Text&gt;&#13;&#10;        &lt;/Box&gt;&#13;&#10;    &lt;/Box&gt;&#13;&#10;&#13;&#10;    {/* C 页脚 */}&#13;&#10;    &lt;Box style={{ position: 'absolute', bottom: 24, left: 60 }}&gt;&#13;&#10;        &lt;Text style={{ fontSize: 15, color: '#8B97A8' }}&gt;论文复现 · 声呐鱼群计数&lt;/Text&gt;&#13;&#10;    &lt;/Box&gt;&#13;&#10;    &lt;Box style={{ position: 'absolute', bottom: 24, right: 60 }}&gt;&#13;&#10;        &lt;Text style={{ fontSize: 15, color: '#1E4FA8', fontWeight: 'bold', fontFamily: 'Times New Roman, serif' }}&gt;07 / 1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240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四个核心模块的实现对照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915525" y="247650"/>
            <a:ext cx="1704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论文公式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代码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验证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19125" y="1028700"/>
            <a:ext cx="6667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19125" y="1028700"/>
            <a:ext cx="6667500" cy="876300"/>
          </a:xfrm>
          <a:custGeom>
            <a:pathLst>
              <a:path w="700" h="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1"/>
                </a:lnTo>
                <a:cubicBezTo>
                  <a:pt x="5" y="92"/>
                  <a:pt x="5" y="92"/>
                  <a:pt x="6" y="92"/>
                </a:cubicBezTo>
                <a:cubicBezTo>
                  <a:pt x="3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09625" y="11620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Times New Roman"/>
                <a:ea typeface="Times New Roman"/>
              </a:rPr>
              <a:t>HLFG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09625" y="1447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7BD9"/>
                </a:solidFill>
                <a:latin typeface="Times New Roman"/>
                <a:ea typeface="Times New Roman"/>
              </a:rPr>
              <a:t>Eq.1–3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390775" y="1162050"/>
            <a:ext cx="46577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高层特征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GAP →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通道注意力（压缩再扩张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÷4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）→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softmax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生成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α/β/γ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加权低层特征。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19125" y="2057400"/>
            <a:ext cx="6667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619125" y="2057400"/>
            <a:ext cx="6667500" cy="876300"/>
          </a:xfrm>
          <a:custGeom>
            <a:pathLst>
              <a:path w="700" h="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1"/>
                </a:lnTo>
                <a:cubicBezTo>
                  <a:pt x="5" y="92"/>
                  <a:pt x="5" y="92"/>
                  <a:pt x="6" y="92"/>
                </a:cubicBezTo>
                <a:cubicBezTo>
                  <a:pt x="3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09625" y="21907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Times New Roman"/>
                <a:ea typeface="Times New Roman"/>
              </a:rPr>
              <a:t>LGFI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09625" y="24765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7BD9"/>
                </a:solidFill>
                <a:latin typeface="Times New Roman"/>
                <a:ea typeface="Times New Roman"/>
              </a:rPr>
              <a:t>Eq.4–6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390775" y="2190750"/>
            <a:ext cx="46577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窗内多头自注意力（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>WMSA, win=8, head=4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）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+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十字形卷积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多尺度空洞卷积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MDC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19125" y="3086100"/>
            <a:ext cx="6667500" cy="71437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619125" y="3086100"/>
            <a:ext cx="6667500" cy="714375"/>
          </a:xfrm>
          <a:custGeom>
            <a:pathLst>
              <a:path w="700" h="75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4"/>
                </a:lnTo>
                <a:cubicBezTo>
                  <a:pt x="5" y="75"/>
                  <a:pt x="5" y="75"/>
                  <a:pt x="6" y="75"/>
                </a:cubicBezTo>
                <a:cubicBezTo>
                  <a:pt x="3" y="75"/>
                  <a:pt x="0" y="72"/>
                  <a:pt x="0" y="6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09625" y="3219450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Times New Roman"/>
                <a:ea typeface="Times New Roman"/>
              </a:rPr>
              <a:t>SEDH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09625" y="35052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7BD9"/>
                </a:solidFill>
                <a:latin typeface="Times New Roman"/>
                <a:ea typeface="Times New Roman"/>
              </a:rPr>
              <a:t>Eq.9–11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390775" y="3219450"/>
            <a:ext cx="46577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用分割概率图</a:t>
            </a:r>
            <a:r>
              <a:rPr lang="en-US" sz="1238">
                <a:solidFill>
                  <a:srgbClr val="4A5568"/>
                </a:solidFill>
                <a:latin typeface="思源黑体"/>
                <a:ea typeface="思源黑体"/>
              </a:rPr>
              <a:t xml:space="preserve"> Pf / Pn </a:t>
            </a: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增强鱼区、抑制噪声，再精修密度图。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19125" y="3952875"/>
            <a:ext cx="6667500" cy="71437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19125" y="3952875"/>
            <a:ext cx="6667500" cy="714375"/>
          </a:xfrm>
          <a:custGeom>
            <a:pathLst>
              <a:path w="700" h="75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4"/>
                </a:lnTo>
                <a:cubicBezTo>
                  <a:pt x="5" y="75"/>
                  <a:pt x="5" y="75"/>
                  <a:pt x="6" y="75"/>
                </a:cubicBezTo>
                <a:cubicBezTo>
                  <a:pt x="3" y="75"/>
                  <a:pt x="0" y="72"/>
                  <a:pt x="0" y="6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09625" y="4086225"/>
            <a:ext cx="142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Times New Roman"/>
                <a:ea typeface="Times New Roman"/>
              </a:rPr>
              <a:t>MTL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09625" y="4371975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7BD9"/>
                </a:solidFill>
                <a:latin typeface="Times New Roman"/>
                <a:ea typeface="Times New Roman"/>
              </a:rPr>
              <a:t>CE+Dice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390775" y="4086225"/>
            <a:ext cx="46577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4A5568"/>
                </a:solidFill>
                <a:latin typeface="思源黑体"/>
                <a:ea typeface="思源黑体"/>
              </a:rPr>
              <a:t>三类分割头辅助监督骨干，与密度回归共享编码器。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524750" y="1028700"/>
            <a:ext cx="4095750" cy="742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E3F8C"/>
                </a:solidFill>
                <a:latin typeface="思源黑体"/>
                <a:ea typeface="思源黑体"/>
              </a:rPr>
              <a:t>实现中定位到的</a:t>
            </a:r>
            <a:endParaRPr/>
          </a:p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E3F8C"/>
                </a:solidFill>
                <a:latin typeface="思源黑体"/>
                <a:ea typeface="思源黑体"/>
              </a:rPr>
              <a:t>两个系统性问题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7524750" y="1943100"/>
            <a:ext cx="66675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7524750" y="2209800"/>
            <a:ext cx="40957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715250" y="2381250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思源黑体"/>
                <a:ea typeface="思源黑体"/>
              </a:rPr>
              <a:t>问题一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715250" y="2667000"/>
            <a:ext cx="37147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1A2230"/>
                </a:solidFill>
                <a:latin typeface="思源黑体"/>
                <a:ea typeface="思源黑体"/>
              </a:rPr>
              <a:t xml:space="preserve">HLFG Eq.3 </a:t>
            </a:r>
            <a:r>
              <a:rPr lang="zh-CN" sz="1275" b="1">
                <a:solidFill>
                  <a:srgbClr val="1A2230"/>
                </a:solidFill>
                <a:latin typeface="思源黑体"/>
                <a:ea typeface="思源黑体"/>
              </a:rPr>
              <a:t>直接融合会破坏跳连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715250" y="3038475"/>
            <a:ext cx="3714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按原文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α/β/γ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加权后，低层细节被过度抑制，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U-Net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跳连失效。改用拼接式融合（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cat3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）后恢复。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524750" y="3914775"/>
            <a:ext cx="4095750" cy="1857375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715250" y="4086225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思源黑体"/>
                <a:ea typeface="思源黑体"/>
              </a:rPr>
              <a:t>问题二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715250" y="4371975"/>
            <a:ext cx="37147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1A2230"/>
                </a:solidFill>
                <a:latin typeface="思源黑体"/>
                <a:ea typeface="思源黑体"/>
              </a:rPr>
              <a:t xml:space="preserve">SEDH </a:t>
            </a:r>
            <a:r>
              <a:rPr lang="zh-CN" sz="1275" b="1">
                <a:solidFill>
                  <a:srgbClr val="1A2230"/>
                </a:solidFill>
                <a:latin typeface="思源黑体"/>
                <a:ea typeface="思源黑体"/>
              </a:rPr>
              <a:t>类别索引与数据约定相反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715250" y="4743450"/>
            <a:ext cx="37147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原实现取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prob[:,0:1]/[:,1:2]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对应背景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/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鱼，与标签约定（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0=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背景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,1=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鱼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,2=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噪声）颠倒，会灾难性反转精修方向。已修正为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[:,1:2]/[:,2:3]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7524750" y="5943600"/>
            <a:ext cx="4095750" cy="838200"/>
          </a:xfrm>
          <a:prstGeom prst="roundRect">
            <a:avLst>
              <a:gd name="adj" fmla="val 90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715250" y="6096000"/>
            <a:ext cx="3714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FFFFFF"/>
                </a:solidFill>
                <a:latin typeface="思源黑体"/>
                <a:ea typeface="思源黑体"/>
              </a:rPr>
              <a:t>这两个问题不修，实验数字会完全失真——是复现过程中最关键的两处排障。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07 / 13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6" name="" descr="&lt;Slide style={{ width: 1280, height: 720, background: '#F7F9FC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Otsu 自动生成三类分割标签&lt;/Text&gt;&#10;    &lt;/Box&gt;&#10;    &lt;Box style={{ position: 'absolute', top: 26, right: 60 }}&gt;&#10;        &lt;Text style={{ fontSize: 16, color: '#B9CBE8' }}&gt;数据侧工作 · 按 Fig.5 五步流程&lt;/Text&gt;&#10;    &lt;/Box&gt;&#10;&#10;    {/* 左侧大图 58% */}&#10;    &lt;Box style={{ position: 'absolute', top: 104, left: 60, width: 680, height: 500, background: '#FFFFFF', border: '1px solid #D6DCE5', borderRadius: 8, padding: 14 }}&gt;&#10;        &lt;Text style={{ fontSize: 16, color: '#4A5568', fontWeight: 'bold' }}&gt;生成结果自检：灰度图 / 伪彩色三类标签 / 密度图&lt;/Text&gt;&#10;        &lt;Box style={{ height: 12 }} /&gt;&#10;        &lt;Image src=&quot;assets/seg_check.png&quot; style={{ width: 650, height: 396, objectFit: 'contain' }} /&gt;&#10;        &lt;Box style={{ height: 10 }} /&gt;&#10;        &lt;Text style={{ fontSize: 14, color: '#8B97A8' }}&gt;&#10;            红=鱼群(fish) ｜ 黄=噪声(noise) ｜ 蓝=背景(background)&#10;        &lt;/Text&gt;&#10;    &lt;/Box&gt;&#10;&#10;    {/* 右侧文字 */}&#10;    &lt;Box style={{ position: 'absolute', top: 104, left: 770, width: 450 }}&gt;&#10;        &lt;Text style={{ fontSize: 28, fontWeight: 'bold', color: '#0E3F8C', lineHeight: 1.35 }}&gt;&#10;            Fig.5 五步流程&#10;        &lt;/Text&gt;&#10;        &lt;Box style={{ height: 16 }} /&gt;&#10;        &lt;Box style={{ width: 70, height: 4, background: '#1E4FA8' }} /&gt;&#10;        &lt;Box style={{ height: 22 }} /&gt;&#10;&#10;        {[&#10;            '灰度化 → Otsu 自动阈值分割',&#10;            '密度图掩码筛选（θ_dm = 0.001）',&#10;            '按位置挑出候选鱼区与噪声区',&#10;            '形态学后处理去噪、填洞',&#10;            '输出 500 张 fish/noise/background 标签',&#10;        ].map((t, i) =&gt; (&#10;            &lt;Box key={t} style={{ flexDirection: 'row', gap: 12, marginBottom: 12, alignItems: 'flex-start' }}&gt;&#10;                &lt;Box style={{ width: 26, height: 26, background: '#1E4FA8', borderRadius: 13, justifyContent: 'center', alignItems: 'center', flexShrink: 0 }}&gt;&#10;                    &lt;Text style={{ fontSize: 14, color: '#FFFFFF', fontWeight: 'bold', fontFamily: 'Times New Roman, serif' }}&gt;{i + 1}&lt;/Text&gt;&#10;                &lt;/Box&gt;&#10;                &lt;Text style={{ fontSize: 16, color: '#1A2230', lineHeight: 1.55, paddingTop: 2 }}&gt;{t}&lt;/Text&gt;&#10;            &lt;/Box&gt;&#10;        ))}&#10;&#10;        &lt;Box style={{ height: 12 }} /&gt;&#10;        &lt;Box style={{ background: '#E8EFF8', borderLeft: '5px solid #1E4FA8', borderRadius: 6, padding: '16px 18px' }}&gt;&#10;            &lt;Text style={{ fontSize: 16.5, color: '#0E3F8C', lineHeight: 1.7 }}&gt;&#10;                密度图 Otsu 等效阈值与论文固定值 0.001 的&#10;                &lt;span style={{ fontWeight: 'bold' }}&gt; 一致率 99.4%&lt;/span&gt;&#10;            &lt;/Text&gt;&#10;            &lt;Box style={{ height: 8 }} /&gt;&#10;            &lt;Text style={{ fontSize: 15, color: '#4A5568', lineHeight: 1.6 }}&gt;&#10;                → 说明标签生成与论文设定高度一致，标签可靠。&#10;            &lt;/Text&gt;&#10;        &lt;/Box&gt;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08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FFFFFF"/>
                </a:solidFill>
                <a:latin typeface="思源黑体"/>
                <a:ea typeface="思源黑体"/>
              </a:rPr>
              <a:t xml:space="preserve">Otsu </a:t>
            </a: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自动生成三类分割标签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525000" y="24765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数据侧工作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按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Fig.5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五步流程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571500" y="990600"/>
            <a:ext cx="647700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04850" y="1123950"/>
            <a:ext cx="621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A5568"/>
                </a:solidFill>
                <a:latin typeface="思源黑体"/>
                <a:ea typeface="思源黑体"/>
              </a:rPr>
              <a:t>生成结果自检：灰度图</a:t>
            </a:r>
            <a:r>
              <a:rPr lang="en-US" sz="1200" b="1">
                <a:solidFill>
                  <a:srgbClr val="4A5568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200" b="1">
                <a:solidFill>
                  <a:srgbClr val="4A5568"/>
                </a:solidFill>
                <a:latin typeface="思源黑体"/>
                <a:ea typeface="思源黑体"/>
              </a:rPr>
              <a:t>伪彩色三类标签</a:t>
            </a:r>
            <a:r>
              <a:rPr lang="en-US" sz="1200" b="1">
                <a:solidFill>
                  <a:srgbClr val="4A5568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200" b="1">
                <a:solidFill>
                  <a:srgbClr val="4A5568"/>
                </a:solidFill>
                <a:latin typeface="思源黑体"/>
                <a:ea typeface="思源黑体"/>
              </a:rPr>
              <a:t>密度图</a:t>
            </a:r>
            <a:endParaRPr/>
          </a:p>
        </p:txBody>
      </p:sp>
      <p:pic>
        <p:nvPicPr>
          <p:cNvPr id="63" name=""/>
          <p:cNvPicPr>
            <a:picLocks noChangeAspect="1"/>
          </p:cNvPicPr>
          <p:nvPr/>
        </p:nvPicPr>
        <p:blipFill>
          <a:blip r:embed="rId1"/>
          <a:srcRect l="0" t="25163" r="0" b="25163"/>
          <a:stretch>
            <a:fillRect/>
          </a:stretch>
        </p:blipFill>
        <p:spPr>
          <a:xfrm rot="0" flipH="0" flipV="0">
            <a:off x="704850" y="1428750"/>
            <a:ext cx="6191250" cy="377190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04850" y="5295900"/>
            <a:ext cx="621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思源黑体"/>
                <a:ea typeface="思源黑体"/>
              </a:rPr>
              <a:t>红</a:t>
            </a:r>
            <a:r>
              <a:rPr lang="en-US" sz="1050">
                <a:solidFill>
                  <a:srgbClr val="8B97A8"/>
                </a:solidFill>
                <a:latin typeface="思源黑体"/>
                <a:ea typeface="思源黑体"/>
              </a:rPr>
              <a:t>=</a:t>
            </a:r>
            <a:r>
              <a:rPr lang="zh-CN" sz="1050">
                <a:solidFill>
                  <a:srgbClr val="8B97A8"/>
                </a:solidFill>
                <a:latin typeface="思源黑体"/>
                <a:ea typeface="思源黑体"/>
              </a:rPr>
              <a:t>鱼群</a:t>
            </a:r>
            <a:r>
              <a:rPr lang="en-US" sz="1050">
                <a:solidFill>
                  <a:srgbClr val="8B97A8"/>
                </a:solidFill>
                <a:latin typeface="思源黑体"/>
                <a:ea typeface="思源黑体"/>
              </a:rPr>
              <a:t xml:space="preserve">(fish) </a:t>
            </a:r>
            <a:r>
              <a:rPr lang="zh-CN" sz="1050">
                <a:solidFill>
                  <a:srgbClr val="8B97A8"/>
                </a:solidFill>
                <a:latin typeface="思源黑体"/>
                <a:ea typeface="思源黑体"/>
              </a:rPr>
              <a:t>｜</a:t>
            </a:r>
            <a:r>
              <a:rPr lang="en-US" sz="1050">
                <a:solidFill>
                  <a:srgbClr val="8B97A8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050">
                <a:solidFill>
                  <a:srgbClr val="8B97A8"/>
                </a:solidFill>
                <a:latin typeface="思源黑体"/>
                <a:ea typeface="思源黑体"/>
              </a:rPr>
              <a:t>黄</a:t>
            </a:r>
            <a:r>
              <a:rPr lang="en-US" sz="1050">
                <a:solidFill>
                  <a:srgbClr val="8B97A8"/>
                </a:solidFill>
                <a:latin typeface="思源黑体"/>
                <a:ea typeface="思源黑体"/>
              </a:rPr>
              <a:t>=</a:t>
            </a:r>
            <a:r>
              <a:rPr lang="zh-CN" sz="1050">
                <a:solidFill>
                  <a:srgbClr val="8B97A8"/>
                </a:solidFill>
                <a:latin typeface="思源黑体"/>
                <a:ea typeface="思源黑体"/>
              </a:rPr>
              <a:t>噪声</a:t>
            </a:r>
            <a:r>
              <a:rPr lang="en-US" sz="1050">
                <a:solidFill>
                  <a:srgbClr val="8B97A8"/>
                </a:solidFill>
                <a:latin typeface="思源黑体"/>
                <a:ea typeface="思源黑体"/>
              </a:rPr>
              <a:t xml:space="preserve">(noise) </a:t>
            </a:r>
            <a:r>
              <a:rPr lang="zh-CN" sz="1050">
                <a:solidFill>
                  <a:srgbClr val="8B97A8"/>
                </a:solidFill>
                <a:latin typeface="思源黑体"/>
                <a:ea typeface="思源黑体"/>
              </a:rPr>
              <a:t>｜</a:t>
            </a:r>
            <a:r>
              <a:rPr lang="en-US" sz="1050">
                <a:solidFill>
                  <a:srgbClr val="8B97A8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050">
                <a:solidFill>
                  <a:srgbClr val="8B97A8"/>
                </a:solidFill>
                <a:latin typeface="思源黑体"/>
                <a:ea typeface="思源黑体"/>
              </a:rPr>
              <a:t>蓝</a:t>
            </a:r>
            <a:r>
              <a:rPr lang="en-US" sz="1050">
                <a:solidFill>
                  <a:srgbClr val="8B97A8"/>
                </a:solidFill>
                <a:latin typeface="思源黑体"/>
                <a:ea typeface="思源黑体"/>
              </a:rPr>
              <a:t>=</a:t>
            </a:r>
            <a:r>
              <a:rPr lang="zh-CN" sz="1050">
                <a:solidFill>
                  <a:srgbClr val="8B97A8"/>
                </a:solidFill>
                <a:latin typeface="思源黑体"/>
                <a:ea typeface="思源黑体"/>
              </a:rPr>
              <a:t>背景</a:t>
            </a:r>
            <a:r>
              <a:rPr lang="en-US" sz="1050">
                <a:solidFill>
                  <a:srgbClr val="8B97A8"/>
                </a:solidFill>
                <a:latin typeface="思源黑体"/>
                <a:ea typeface="思源黑体"/>
              </a:rPr>
              <a:t>(background)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334250" y="990600"/>
            <a:ext cx="4286250" cy="4381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100" b="1">
                <a:solidFill>
                  <a:srgbClr val="0E3F8C"/>
                </a:solidFill>
                <a:latin typeface="思源黑体"/>
                <a:ea typeface="思源黑体"/>
              </a:rPr>
              <a:t xml:space="preserve">Fig.5 </a:t>
            </a:r>
            <a:r>
              <a:rPr lang="zh-CN" sz="2100" b="1">
                <a:solidFill>
                  <a:srgbClr val="0E3F8C"/>
                </a:solidFill>
                <a:latin typeface="思源黑体"/>
                <a:ea typeface="思源黑体"/>
              </a:rPr>
              <a:t>五步流程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334250" y="1581150"/>
            <a:ext cx="66675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7334250" y="18288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429500" y="18764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696200" y="1828800"/>
            <a:ext cx="2009775" cy="304800"/>
          </a:xfrm>
          <a:prstGeom prst="rect"/>
        </p:spPr>
        <p:txBody>
          <a:bodyPr wrap="none" lIns="0" tIns="14288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灰度化</a:t>
            </a:r>
            <a:r>
              <a:rPr lang="en-US" sz="1200">
                <a:solidFill>
                  <a:srgbClr val="1A2230"/>
                </a:solidFill>
                <a:latin typeface="思源黑体"/>
                <a:ea typeface="思源黑体"/>
              </a:rPr>
              <a:t xml:space="preserve"> → Otsu </a:t>
            </a: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自动阈值分割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7334250" y="22479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429500" y="22955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696200" y="2247900"/>
            <a:ext cx="2381250" cy="304800"/>
          </a:xfrm>
          <a:prstGeom prst="rect"/>
        </p:spPr>
        <p:txBody>
          <a:bodyPr wrap="none" lIns="0" tIns="14288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密度图掩码筛选（θ</a:t>
            </a:r>
            <a:r>
              <a:rPr lang="en-US" sz="1200">
                <a:solidFill>
                  <a:srgbClr val="1A2230"/>
                </a:solidFill>
                <a:latin typeface="思源黑体"/>
                <a:ea typeface="思源黑体"/>
              </a:rPr>
              <a:t>_dm = 0.001</a:t>
            </a: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7334250" y="26670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429500" y="27146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696200" y="2667000"/>
            <a:ext cx="1981200" cy="304800"/>
          </a:xfrm>
          <a:prstGeom prst="rect"/>
        </p:spPr>
        <p:txBody>
          <a:bodyPr wrap="none" lIns="0" tIns="14288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按位置挑出候选鱼区与噪声区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7334250" y="30861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429500" y="31337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696200" y="3086100"/>
            <a:ext cx="1676400" cy="304800"/>
          </a:xfrm>
          <a:prstGeom prst="rect"/>
        </p:spPr>
        <p:txBody>
          <a:bodyPr wrap="none" lIns="0" tIns="14288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形态学后处理去噪、填洞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7334250" y="35052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429500" y="35528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696200" y="3505200"/>
            <a:ext cx="2867025" cy="304800"/>
          </a:xfrm>
          <a:prstGeom prst="rect"/>
        </p:spPr>
        <p:txBody>
          <a:bodyPr wrap="none" lIns="0" tIns="14288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输出</a:t>
            </a:r>
            <a:r>
              <a:rPr lang="en-US" sz="1200">
                <a:solidFill>
                  <a:srgbClr val="1A2230"/>
                </a:solidFill>
                <a:latin typeface="思源黑体"/>
                <a:ea typeface="思源黑体"/>
              </a:rPr>
              <a:t xml:space="preserve"> 500 </a:t>
            </a: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张</a:t>
            </a:r>
            <a:r>
              <a:rPr lang="en-US" sz="1200">
                <a:solidFill>
                  <a:srgbClr val="1A2230"/>
                </a:solidFill>
                <a:latin typeface="思源黑体"/>
                <a:ea typeface="思源黑体"/>
              </a:rPr>
              <a:t xml:space="preserve"> fish/noise/background </a:t>
            </a: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标签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7381875" y="4038600"/>
            <a:ext cx="4286250" cy="1304925"/>
          </a:xfrm>
          <a:prstGeom prst="roundRect">
            <a:avLst>
              <a:gd name="adj" fmla="val 438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7381875" y="4038600"/>
            <a:ext cx="4286250" cy="1304925"/>
          </a:xfrm>
          <a:custGeom>
            <a:pathLst>
              <a:path w="450" h="13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136"/>
                </a:lnTo>
                <a:cubicBezTo>
                  <a:pt x="5" y="137"/>
                  <a:pt x="5" y="137"/>
                  <a:pt x="6" y="137"/>
                </a:cubicBezTo>
                <a:cubicBezTo>
                  <a:pt x="3" y="137"/>
                  <a:pt x="0" y="134"/>
                  <a:pt x="0" y="1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553325" y="4191000"/>
            <a:ext cx="38957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38">
                <a:solidFill>
                  <a:srgbClr val="0E3F8C"/>
                </a:solidFill>
                <a:latin typeface="思源黑体"/>
                <a:ea typeface="思源黑体"/>
              </a:rPr>
              <a:t>密度图</a:t>
            </a:r>
            <a:r>
              <a:rPr lang="en-US" sz="1238">
                <a:solidFill>
                  <a:srgbClr val="0E3F8C"/>
                </a:solidFill>
                <a:latin typeface="思源黑体"/>
                <a:ea typeface="思源黑体"/>
              </a:rPr>
              <a:t xml:space="preserve"> Otsu </a:t>
            </a:r>
            <a:r>
              <a:rPr lang="zh-CN" sz="1238">
                <a:solidFill>
                  <a:srgbClr val="0E3F8C"/>
                </a:solidFill>
                <a:latin typeface="思源黑体"/>
                <a:ea typeface="思源黑体"/>
              </a:rPr>
              <a:t>等效阈值与论文固定值</a:t>
            </a:r>
            <a:r>
              <a:rPr lang="en-US" sz="1238">
                <a:solidFill>
                  <a:srgbClr val="0E3F8C"/>
                </a:solidFill>
                <a:latin typeface="思源黑体"/>
                <a:ea typeface="思源黑体"/>
              </a:rPr>
              <a:t xml:space="preserve"> 0.001 </a:t>
            </a:r>
            <a:r>
              <a:rPr lang="zh-CN" sz="1238">
                <a:solidFill>
                  <a:srgbClr val="0E3F8C"/>
                </a:solidFill>
                <a:latin typeface="思源黑体"/>
                <a:ea typeface="思源黑体"/>
              </a:rPr>
              <a:t>的</a:t>
            </a:r>
            <a:r>
              <a:rPr lang="en-US" sz="1238" b="1">
                <a:solidFill>
                  <a:srgbClr val="0E3F8C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238" b="1">
                <a:solidFill>
                  <a:srgbClr val="0E3F8C"/>
                </a:solidFill>
                <a:latin typeface="思源黑体"/>
                <a:ea typeface="思源黑体"/>
              </a:rPr>
              <a:t>一致率</a:t>
            </a:r>
            <a:r>
              <a:rPr lang="en-US" sz="1238" b="1">
                <a:solidFill>
                  <a:srgbClr val="0E3F8C"/>
                </a:solidFill>
                <a:latin typeface="思源黑体"/>
                <a:ea typeface="思源黑体"/>
              </a:rPr>
              <a:t xml:space="preserve"> 99.4%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553325" y="4914900"/>
            <a:ext cx="38957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思源黑体"/>
                <a:ea typeface="思源黑体"/>
              </a:rPr>
              <a:t xml:space="preserve">→ </a:t>
            </a:r>
            <a:r>
              <a:rPr lang="zh-CN" sz="1125">
                <a:solidFill>
                  <a:srgbClr val="4A5568"/>
                </a:solidFill>
                <a:latin typeface="思源黑体"/>
                <a:ea typeface="思源黑体"/>
              </a:rPr>
              <a:t>说明标签生成与论文设定高度一致，标签可靠。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08 / 13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8" name="" descr="&lt;Slide style={{ width: 1280, height: 720, background: '#F7F9FC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Otsu 自动生成三类分割标签&lt;/Text&gt;&#10;    &lt;/Box&gt;&#10;    &lt;Box style={{ position: 'absolute', top: 26, right: 60 }}&gt;&#10;        &lt;Text style={{ fontSize: 16, color: '#B9CBE8' }}&gt;数据侧工作 · 按 Fig.5 五步流程&lt;/Text&gt;&#10;    &lt;/Box&gt;&#10;&#10;    {/* 左侧竖版大图（匹配原图 786×964 纵向比例） */}&#10;    &lt;Box style={{ position: 'absolute', top: 100, left: 60, width: 420, height: 530, background: '#FFFFFF', border: '1px solid #D6DCE5', borderRadius: 8, padding: 12 }}&gt;&#10;        &lt;Text style={{ fontSize: 15, color: '#4A5568', fontWeight: 'bold' }}&gt;生成结果自检（6 样本 × 5 步骤）&lt;/Text&gt;&#10;        &lt;Box style={{ height: 10 }} /&gt;&#10;        &lt;Image src=&quot;assets/seg_check.png&quot; style={{ width: 396, height: 440, objectFit: 'contain' }} /&gt;&#10;        &lt;Box style={{ height: 8 }} /&gt;&#10;        &lt;Text style={{ fontSize: 13.5, color: '#8B97A8' }}&gt;&#10;            Input → L_mask → D_mask → S_mask(raw) → S_mask(final)&#10;        &lt;/Text&gt;&#10;    &lt;/Box&gt;&#10;&#10;    {/* 右侧文字（宽栏） */}&#10;    &lt;Box style={{ position: 'absolute', top: 100, left: 510, width: 710 }}&gt;&#10;        &lt;Text style={{ fontSize: 28, fontWeight: 'bold', color: '#0E3F8C', lineHeight: 1.35 }}&gt;&#10;            Fig.5 五步流程，全程无人工干预&#10;        &lt;/Text&gt;&#10;        &lt;Box style={{ height: 16 }} /&gt;&#10;        &lt;Box style={{ width: 70, height: 4, background: '#1E4FA8' }} /&gt;&#10;        &lt;Box style={{ height: 20 }} /&gt;&#10;&#10;        {/* 步骤两列 */}&#10;        &lt;Box style={{ flexDirection: 'row', flexWrap: 'wrap', gap: 12 }}&gt;&#10;            {[&#10;                '灰度化 → Otsu 自动阈值分割',&#10;                '密度图掩码筛选（θ_dm = 0.001）',&#10;                '按位置挑出候选鱼区与噪声区',&#10;                '形态学后处理去噪、填洞',&#10;                '输出 500 张三类标签',&#10;            ].map((t, i) =&gt; (&#10;                &lt;Box key={t} style={{ width: 348, flexDirection: 'row', gap: 12, alignItems: 'flex-start', background: '#FFFFFF', border: '1px solid #D6DCE5', borderRadius: 6, padding: '12px 14px' }}&gt;&#10;                    &lt;Box style={{ width: 26, height: 26, background: '#1E4FA8', borderRadius: 13, justifyContent: 'center', alignItems: 'center', flexShrink: 0 }}&gt;&#10;                        &lt;Text style={{ fontSize: 14, color: '#FFFFFF', fontWeight: 'bold', fontFamily: 'Times New Roman, serif' }}&gt;{i + 1}&lt;/Text&gt;&#10;                    &lt;/Box&gt;&#10;                    &lt;Text style={{ fontSize: 16, color: '#1A2230', lineHeight: 1.5, paddingTop: 2 }}&gt;{t}&lt;/Text&gt;&#10;                &lt;/Box&gt;&#10;            ))}&#10;        &lt;/Box&gt;&#10;&#10;        &lt;Box style={{ height: 18 }} /&gt;&#10;&#10;        {/* 底部洞察条（横向大卡） */}&#10;        &lt;Box style={{ background: '#0E3F8C', borderRadius: 8, padding: '20px 24px', flexDirection: 'row', alignItems: 'center', gap: 24 }}&gt;&#10;            &lt;Box style={{ alignItems: 'center', flexShrink: 0 }}&gt;&#10;                &lt;Text style={{ fontSize: 52, fontWeight: 'bold', color: '#FFC107', fontFamily: 'Times New Roman, serif', lineHeight: 1 }}&gt;99.4%&lt;/Text&gt;&#10;                &lt;Box style={{ height: 6 }} /&gt;&#10;                &lt;Text style={{ fontSize: 14, color: '#B9CBE8' }}&gt;阈值一致率&lt;/Text&gt;&#10;            &lt;/Box&gt;&#10;            &lt;Box style={{ flex: 1, borderLeft: '1px solid #3D7BD9', paddingLeft: 24 }}&gt;&#10;                &lt;Text style={{ fontSize: 17, color: '#FFFFFF', lineHeight: 1.7 }}&gt;&#10;                    密度图 Otsu 等效阈值与论文固定值 0.001 的逐帧一致率 99.4%&#10;                    ——标签生成与论文设定高度一致，&lt;span style={{ fontWeight: 'bold' }}&gt;标签可靠&lt;/span&gt;。&#10;                &lt;/Text&gt;&#10;            &lt;/Box&gt;&#10;        &lt;/Box&gt;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08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FFFFFF"/>
                </a:solidFill>
                <a:latin typeface="思源黑体"/>
                <a:ea typeface="思源黑体"/>
              </a:rPr>
              <a:t xml:space="preserve">Otsu </a:t>
            </a: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自动生成三类分割标签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525000" y="24765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数据侧工作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按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Fig.5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五步流程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571500" y="952500"/>
            <a:ext cx="4000500" cy="504825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5800" y="10668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A5568"/>
                </a:solidFill>
                <a:latin typeface="思源黑体"/>
                <a:ea typeface="思源黑体"/>
              </a:rPr>
              <a:t>生成结果自检（</a:t>
            </a:r>
            <a:r>
              <a:rPr lang="en-US" sz="1125" b="1">
                <a:solidFill>
                  <a:srgbClr val="4A5568"/>
                </a:solidFill>
                <a:latin typeface="思源黑体"/>
                <a:ea typeface="思源黑体"/>
              </a:rPr>
              <a:t xml:space="preserve">6 </a:t>
            </a:r>
            <a:r>
              <a:rPr lang="zh-CN" sz="1125" b="1">
                <a:solidFill>
                  <a:srgbClr val="4A5568"/>
                </a:solidFill>
                <a:latin typeface="思源黑体"/>
                <a:ea typeface="思源黑体"/>
              </a:rPr>
              <a:t>样本</a:t>
            </a:r>
            <a:r>
              <a:rPr lang="en-US" sz="1125" b="1">
                <a:solidFill>
                  <a:srgbClr val="4A5568"/>
                </a:solidFill>
                <a:latin typeface="思源黑体"/>
                <a:ea typeface="思源黑体"/>
              </a:rPr>
              <a:t xml:space="preserve"> × 5 </a:t>
            </a:r>
            <a:r>
              <a:rPr lang="zh-CN" sz="1125" b="1">
                <a:solidFill>
                  <a:srgbClr val="4A5568"/>
                </a:solidFill>
                <a:latin typeface="思源黑体"/>
                <a:ea typeface="思源黑体"/>
              </a:rPr>
              <a:t>步骤）</a:t>
            </a:r>
            <a:endParaRPr/>
          </a:p>
        </p:txBody>
      </p:sp>
      <p:pic>
        <p:nvPicPr>
          <p:cNvPr id="95" name=""/>
          <p:cNvPicPr>
            <a:picLocks noChangeAspect="1"/>
          </p:cNvPicPr>
          <p:nvPr/>
        </p:nvPicPr>
        <p:blipFill>
          <a:blip r:embed="rId1"/>
          <a:srcRect l="0" t="4702" r="0" b="4702"/>
          <a:stretch>
            <a:fillRect/>
          </a:stretch>
        </p:blipFill>
        <p:spPr>
          <a:xfrm rot="0" flipH="0" flipV="0">
            <a:off x="685800" y="1333500"/>
            <a:ext cx="3771900" cy="4191000"/>
          </a:xfrm>
          <a:prstGeom prst="rect">
            <a:avLst/>
          </a:prstGeom>
          <a:ln/>
        </p:spPr>
      </p:pic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85800" y="5600700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8B97A8"/>
                </a:solidFill>
                <a:latin typeface="思源黑体"/>
                <a:ea typeface="思源黑体"/>
              </a:rPr>
              <a:t>Input → L_mask → D_mask → S_mask(raw) → S_mask(final)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857750" y="952500"/>
            <a:ext cx="6762750" cy="4381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100" b="1">
                <a:solidFill>
                  <a:srgbClr val="0E3F8C"/>
                </a:solidFill>
                <a:latin typeface="思源黑体"/>
                <a:ea typeface="思源黑体"/>
              </a:rPr>
              <a:t xml:space="preserve">Fig.5 </a:t>
            </a:r>
            <a:r>
              <a:rPr lang="zh-CN" sz="2100" b="1">
                <a:solidFill>
                  <a:srgbClr val="0E3F8C"/>
                </a:solidFill>
                <a:latin typeface="思源黑体"/>
                <a:ea typeface="思源黑体"/>
              </a:rPr>
              <a:t>五步流程，全程无人工干预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857750" y="1543050"/>
            <a:ext cx="66675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4857750" y="1771650"/>
            <a:ext cx="33147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4991100" y="1885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086350" y="193357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353050" y="1885950"/>
            <a:ext cx="2009775" cy="295275"/>
          </a:xfrm>
          <a:prstGeom prst="rect"/>
        </p:spPr>
        <p:txBody>
          <a:bodyPr wrap="none" lIns="0" tIns="14288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灰度化</a:t>
            </a:r>
            <a:r>
              <a:rPr lang="en-US" sz="1200">
                <a:solidFill>
                  <a:srgbClr val="1A2230"/>
                </a:solidFill>
                <a:latin typeface="思源黑体"/>
                <a:ea typeface="思源黑体"/>
              </a:rPr>
              <a:t xml:space="preserve"> → Otsu </a:t>
            </a: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自动阈值分割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8286750" y="1771650"/>
            <a:ext cx="33147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8420100" y="1885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515350" y="193357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782050" y="1885950"/>
            <a:ext cx="2381250" cy="295275"/>
          </a:xfrm>
          <a:prstGeom prst="rect"/>
        </p:spPr>
        <p:txBody>
          <a:bodyPr wrap="none" lIns="0" tIns="14288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密度图掩码筛选（θ</a:t>
            </a:r>
            <a:r>
              <a:rPr lang="en-US" sz="1200">
                <a:solidFill>
                  <a:srgbClr val="1A2230"/>
                </a:solidFill>
                <a:latin typeface="思源黑体"/>
                <a:ea typeface="思源黑体"/>
              </a:rPr>
              <a:t>_dm = 0.001</a:t>
            </a: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857750" y="2409825"/>
            <a:ext cx="33147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4991100" y="25241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086350" y="257175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353050" y="2524125"/>
            <a:ext cx="1981200" cy="295275"/>
          </a:xfrm>
          <a:prstGeom prst="rect"/>
        </p:spPr>
        <p:txBody>
          <a:bodyPr wrap="none" lIns="0" tIns="14288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按位置挑出候选鱼区与噪声区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286750" y="2409825"/>
            <a:ext cx="33147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8420100" y="25241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515350" y="257175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782050" y="2524125"/>
            <a:ext cx="1676400" cy="295275"/>
          </a:xfrm>
          <a:prstGeom prst="rect"/>
        </p:spPr>
        <p:txBody>
          <a:bodyPr wrap="none" lIns="0" tIns="14288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形态学后处理去噪、填洞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857750" y="3048000"/>
            <a:ext cx="33147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4991100" y="31623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086350" y="32099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353050" y="3162300"/>
            <a:ext cx="1428750" cy="295275"/>
          </a:xfrm>
          <a:prstGeom prst="rect"/>
        </p:spPr>
        <p:txBody>
          <a:bodyPr wrap="none" lIns="0" tIns="14288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输出</a:t>
            </a:r>
            <a:r>
              <a:rPr lang="en-US" sz="1200">
                <a:solidFill>
                  <a:srgbClr val="1A2230"/>
                </a:solidFill>
                <a:latin typeface="思源黑体"/>
                <a:ea typeface="思源黑体"/>
              </a:rPr>
              <a:t xml:space="preserve"> 500 </a:t>
            </a:r>
            <a:r>
              <a:rPr lang="zh-CN" sz="1200">
                <a:solidFill>
                  <a:srgbClr val="1A2230"/>
                </a:solidFill>
                <a:latin typeface="思源黑体"/>
                <a:ea typeface="思源黑体"/>
              </a:rPr>
              <a:t>张三类标签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857750" y="3743325"/>
            <a:ext cx="6762750" cy="1200150"/>
          </a:xfrm>
          <a:prstGeom prst="roundRect">
            <a:avLst>
              <a:gd name="adj" fmla="val 634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086350" y="3933825"/>
            <a:ext cx="13620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FC107"/>
                </a:solidFill>
                <a:latin typeface="Times New Roman"/>
                <a:ea typeface="Times New Roman"/>
              </a:rPr>
              <a:t>99.4%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438775" y="45910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E8"/>
                </a:solidFill>
                <a:latin typeface="思源黑体"/>
                <a:ea typeface="思源黑体"/>
              </a:rPr>
              <a:t>阈值一致率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677025" y="4010025"/>
            <a:ext cx="4724400" cy="666750"/>
          </a:xfrm>
          <a:custGeom>
            <a:pathLst>
              <a:path w="496" h="70">
                <a:moveTo>
                  <a:pt x="0" y="0"/>
                </a:moveTo>
                <a:lnTo>
                  <a:pt x="1" y="0"/>
                </a:lnTo>
                <a:lnTo>
                  <a:pt x="1" y="70"/>
                </a:lnTo>
                <a:lnTo>
                  <a:pt x="0" y="7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915150" y="4010025"/>
            <a:ext cx="4476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/>
                </a:solidFill>
                <a:latin typeface="思源黑体"/>
                <a:ea typeface="思源黑体"/>
              </a:rPr>
              <a:t>密度图</a:t>
            </a:r>
            <a:r>
              <a:rPr lang="en-US" sz="1275">
                <a:solidFill>
                  <a:srgbClr val="FFFFFF"/>
                </a:solidFill>
                <a:latin typeface="思源黑体"/>
                <a:ea typeface="思源黑体"/>
              </a:rPr>
              <a:t xml:space="preserve"> Otsu </a:t>
            </a:r>
            <a:r>
              <a:rPr lang="zh-CN" sz="1275">
                <a:solidFill>
                  <a:srgbClr val="FFFFFF"/>
                </a:solidFill>
                <a:latin typeface="思源黑体"/>
                <a:ea typeface="思源黑体"/>
              </a:rPr>
              <a:t>等效阈值与论文固定值</a:t>
            </a:r>
            <a:r>
              <a:rPr lang="en-US" sz="1275">
                <a:solidFill>
                  <a:srgbClr val="FFFFFF"/>
                </a:solidFill>
                <a:latin typeface="思源黑体"/>
                <a:ea typeface="思源黑体"/>
              </a:rPr>
              <a:t xml:space="preserve"> 0.001 </a:t>
            </a:r>
            <a:r>
              <a:rPr lang="zh-CN" sz="1275">
                <a:solidFill>
                  <a:srgbClr val="FFFFFF"/>
                </a:solidFill>
                <a:latin typeface="思源黑体"/>
                <a:ea typeface="思源黑体"/>
              </a:rPr>
              <a:t>的逐帧一致率</a:t>
            </a:r>
            <a:r>
              <a:rPr lang="en-US" sz="1275">
                <a:solidFill>
                  <a:srgbClr val="FFFFFF"/>
                </a:solidFill>
                <a:latin typeface="思源黑体"/>
                <a:ea typeface="思源黑体"/>
              </a:rPr>
              <a:t xml:space="preserve"> 99.4% ——</a:t>
            </a:r>
            <a:r>
              <a:rPr lang="zh-CN" sz="1275">
                <a:solidFill>
                  <a:srgbClr val="FFFFFF"/>
                </a:solidFill>
                <a:latin typeface="思源黑体"/>
                <a:ea typeface="思源黑体"/>
              </a:rPr>
              <a:t>标签生成与论文设定高度一致，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标签可靠</a:t>
            </a:r>
            <a:r>
              <a:rPr lang="zh-CN" sz="1275">
                <a:solidFill>
                  <a:srgbClr val="FFFFFF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08 / 13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6" name="" descr="&lt;Slide style={{ width: 1280, height: 720, background: '#FFFFFF', position: 'relative', overflow: 'hidden', fontFamily: '思源黑体, Microsoft YaHei, sans-serif' }}&gt;&#10;    {/* 顶部通栏深蓝块（与前两个扉页的侧栏版式区分） */}&#10;    &lt;Box style={{ position: 'absolute', top: 0, left: 0, width: 1280, height: 200, background: '#0E3F8C' }} /&gt;&#10;    &lt;Box style={{ position: 'absolute', top: 48, left: 60, flexDirection: 'row', alignItems: 'center', gap: 28 }}&gt;&#10;        &lt;Text style={{ fontSize: 150, fontWeight: 'bold', color: '#3D7BD9', fontFamily: 'Times New Roman, serif', lineHeight: 1, opacity: 0.9 }}&gt;03&lt;/Text&gt;&#10;        &lt;Box style={{ flexDirection: 'column' }}&gt;&#10;            &lt;Box style={{ width: 80, height: 5, background: '#FFC107' }} /&gt;&#10;            &lt;Box style={{ height: 18 }} /&gt;&#10;            &lt;Text style={{ fontSize: 46, fontWeight: 'bold', color: '#FFFFFF', lineHeight: 1.2 }}&gt;&#10;                实验与结果&#10;            &lt;/Text&gt;&#10;            &lt;Box style={{ height: 14 }} /&gt;&#10;            &lt;Text style={{ fontSize: 19, color: '#B9CBE8' }}&gt;&#10;                11 次 300 轮完整实验 · 覆盖论文全部消融项与两种解码器架构&#10;            &lt;/Text&gt;&#10;        &lt;/Box&gt;&#10;    &lt;/Box&gt;&#10;&#10;    {/* 中部内容：三列要点 */}&#10;    &lt;Box style={{ position: 'absolute', top: 268, left: 60, width: 1160, flexDirection: 'row', gap: 24 }}&gt;&#10;        {[&#10;            { k: '实验规模', v: '11 次 × 300 轮', d: '每次均为完整训练，不用短轮次代替' },&#10;            { k: '消融覆盖', v: '论文全部消融项', d: 'MTL / SEDH / DM-Count 逐项开关' },&#10;            { k: '架构对比', v: 'U-Net vs Transformer', d: '同一数据、同一协议公平对照' },&#10;        ].map((it) =&gt; (&#10;            &lt;Box key={it.k} style={{ flex: 1, background: '#F7F9FC', border: '1px solid #D6DCE5', borderTop: '5px solid #1E4FA8', borderRadius: 8, padding: '22px 24px' }}&gt;&#10;                &lt;Text style={{ fontSize: 16, color: '#3D7BD9', fontWeight: 'bold', letterSpacing: 1 }}&gt;{it.k}&lt;/Text&gt;&#10;                &lt;Box style={{ height: 12 }} /&gt;&#10;                &lt;Text style={{ fontSize: 26, fontWeight: 'bold', color: '#0E3F8C', fontFamily: 'Times New Roman, serif' }}&gt;{it.v}&lt;/Text&gt;&#10;                &lt;Box style={{ height: 10 }} /&gt;&#10;                &lt;Text style={{ fontSize: 16, color: '#4A5568', lineHeight: 1.6 }}&gt;{it.d}&lt;/Text&gt;&#10;            &lt;/Box&gt;&#10;        ))}&#10;    &lt;/Box&gt;&#10;&#10;    {/* 底部：一句话预告 */}&#10;    &lt;Box style={{ position: 'absolute', bottom: 96, left: 60, width: 1160 }}&gt;&#10;        &lt;Box style={{ background: '#E8EFF8', borderLeft: '6px solid #0E3F8C', borderRadius: 6, padding: '20px 26px' }}&gt;&#10;            &lt;Text style={{ fontSize: 21, color: '#1A2230', lineHeight: 1.7 }}&gt;&#10;                核心结论先行：&lt;span style={{ fontWeight: 'bold', color: '#1E4FA8' }}&gt;完整方案（MTL + SEDH + DM-Count）测试 MAE 5.458&lt;/span&gt;，较基线 6.666&#10;                &lt;span style={{ fontWeight: 'bold', color: '#D9534F' }}&gt; 降低 18.1%&lt;/span&gt;，与论文宣称的 MTL 收益 18.8% 量级吻合。&#10;            &lt;/Text&gt;&#10;        &lt;/Box&gt;&#10;    &lt;/Box&gt;&#10;&#10;    {/* C 页脚 */}&#10;    &lt;Box style={{ position: 'absolute', bottom: 24, left: 60 }}&gt;&#10;        &lt;Text style={{ fontSize: 15, color: '#8B97A8' }}&gt;三、实验与结果&lt;/Text&gt;&#10;    &lt;/Box&gt;&#10;    &lt;Box style={{ position: 'absolute', bottom: 24, right: 60 }}&gt;&#10;        &lt;Text style={{ fontSize: 15, color: '#1E4FA8', fontWeight: 'bold', fontFamily: 'Times New Roman, serif' }}&gt;09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0" y="0"/>
            <a:ext cx="12192000" cy="1905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2266950" y="714375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2266950" y="933450"/>
            <a:ext cx="5010150" cy="638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思源黑体"/>
                <a:ea typeface="思源黑体"/>
              </a:rPr>
              <a:t>实验与结果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2266950" y="1704975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B9CBE8"/>
                </a:solidFill>
                <a:latin typeface="思源黑体"/>
                <a:ea typeface="思源黑体"/>
              </a:rPr>
              <a:t xml:space="preserve">11 </a:t>
            </a:r>
            <a:r>
              <a:rPr lang="zh-CN" sz="1425">
                <a:solidFill>
                  <a:srgbClr val="B9CBE8"/>
                </a:solidFill>
                <a:latin typeface="思源黑体"/>
                <a:ea typeface="思源黑体"/>
              </a:rPr>
              <a:t>次</a:t>
            </a:r>
            <a:r>
              <a:rPr lang="en-US" sz="1425">
                <a:solidFill>
                  <a:srgbClr val="B9CBE8"/>
                </a:solidFill>
                <a:latin typeface="思源黑体"/>
                <a:ea typeface="思源黑体"/>
              </a:rPr>
              <a:t xml:space="preserve"> 300 </a:t>
            </a:r>
            <a:r>
              <a:rPr lang="zh-CN" sz="1425">
                <a:solidFill>
                  <a:srgbClr val="B9CBE8"/>
                </a:solidFill>
                <a:latin typeface="思源黑体"/>
                <a:ea typeface="思源黑体"/>
              </a:rPr>
              <a:t>轮完整实验</a:t>
            </a:r>
            <a:r>
              <a:rPr lang="en-US" sz="1425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425">
                <a:solidFill>
                  <a:srgbClr val="B9CBE8"/>
                </a:solidFill>
                <a:latin typeface="思源黑体"/>
                <a:ea typeface="思源黑体"/>
              </a:rPr>
              <a:t>覆盖论文全部消融项与两种解码器架构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4287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3D7BD9">
                    <a:alpha val="90000"/>
                  </a:srgbClr>
                </a:solidFill>
                <a:latin typeface="Times New Roman"/>
                <a:ea typeface="Times New Roman"/>
              </a:rPr>
              <a:t>03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571500" y="2600325"/>
            <a:ext cx="3533775" cy="1466850"/>
          </a:xfrm>
          <a:prstGeom prst="roundRect">
            <a:avLst>
              <a:gd name="adj" fmla="val 5195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571500" y="2600325"/>
            <a:ext cx="3533775" cy="1466850"/>
          </a:xfrm>
          <a:custGeom>
            <a:pathLst>
              <a:path w="371" h="154">
                <a:moveTo>
                  <a:pt x="363" y="0"/>
                </a:moveTo>
                <a:cubicBezTo>
                  <a:pt x="367" y="0"/>
                  <a:pt x="370" y="3"/>
                  <a:pt x="371" y="7"/>
                </a:cubicBezTo>
                <a:cubicBezTo>
                  <a:pt x="370" y="6"/>
                  <a:pt x="369" y="5"/>
                  <a:pt x="368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00100" y="2809875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3D7BD9"/>
                </a:solidFill>
                <a:latin typeface="思源黑体"/>
                <a:ea typeface="思源黑体"/>
              </a:rPr>
              <a:t>实验规模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0100" y="3114675"/>
            <a:ext cx="3076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Times New Roman"/>
                <a:ea typeface="Times New Roman"/>
              </a:rPr>
              <a:t xml:space="preserve">11 </a:t>
            </a:r>
            <a:r>
              <a:rPr lang="zh-CN" sz="1950" b="1">
                <a:solidFill>
                  <a:srgbClr val="0E3F8C"/>
                </a:solidFill>
                <a:latin typeface="Times New Roman"/>
                <a:ea typeface="Times New Roman"/>
              </a:rPr>
              <a:t>次</a:t>
            </a:r>
            <a:r>
              <a:rPr lang="en-US" sz="1950" b="1">
                <a:solidFill>
                  <a:srgbClr val="0E3F8C"/>
                </a:solidFill>
                <a:latin typeface="Times New Roman"/>
                <a:ea typeface="Times New Roman"/>
              </a:rPr>
              <a:t xml:space="preserve"> × 300 </a:t>
            </a:r>
            <a:r>
              <a:rPr lang="zh-CN" sz="1950" b="1">
                <a:solidFill>
                  <a:srgbClr val="0E3F8C"/>
                </a:solidFill>
                <a:latin typeface="Times New Roman"/>
                <a:ea typeface="Times New Roman"/>
              </a:rPr>
              <a:t>轮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30765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每次均为完整训练，不用短轮次代替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333875" y="2600325"/>
            <a:ext cx="3524250" cy="1466850"/>
          </a:xfrm>
          <a:prstGeom prst="roundRect">
            <a:avLst>
              <a:gd name="adj" fmla="val 5195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4333875" y="2600325"/>
            <a:ext cx="3524250" cy="1466850"/>
          </a:xfrm>
          <a:custGeom>
            <a:pathLst>
              <a:path w="370" h="154">
                <a:moveTo>
                  <a:pt x="362" y="0"/>
                </a:moveTo>
                <a:cubicBezTo>
                  <a:pt x="366" y="0"/>
                  <a:pt x="369" y="3"/>
                  <a:pt x="370" y="7"/>
                </a:cubicBezTo>
                <a:cubicBezTo>
                  <a:pt x="369" y="6"/>
                  <a:pt x="368" y="5"/>
                  <a:pt x="367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562475" y="2809875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3D7BD9"/>
                </a:solidFill>
                <a:latin typeface="思源黑体"/>
                <a:ea typeface="思源黑体"/>
              </a:rPr>
              <a:t>消融覆盖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562475" y="3114675"/>
            <a:ext cx="306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Times New Roman"/>
                <a:ea typeface="Times New Roman"/>
              </a:rPr>
              <a:t>论文全部消融项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562475" y="3514725"/>
            <a:ext cx="30670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思源黑体"/>
                <a:ea typeface="思源黑体"/>
              </a:rPr>
              <a:t xml:space="preserve">MTL / SEDH / DM-Count </a:t>
            </a: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逐项开关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086725" y="2600325"/>
            <a:ext cx="3533775" cy="1466850"/>
          </a:xfrm>
          <a:prstGeom prst="roundRect">
            <a:avLst>
              <a:gd name="adj" fmla="val 5195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8086725" y="2600325"/>
            <a:ext cx="3533775" cy="1466850"/>
          </a:xfrm>
          <a:custGeom>
            <a:pathLst>
              <a:path w="371" h="154">
                <a:moveTo>
                  <a:pt x="363" y="0"/>
                </a:moveTo>
                <a:cubicBezTo>
                  <a:pt x="367" y="0"/>
                  <a:pt x="370" y="3"/>
                  <a:pt x="371" y="7"/>
                </a:cubicBezTo>
                <a:cubicBezTo>
                  <a:pt x="370" y="6"/>
                  <a:pt x="369" y="5"/>
                  <a:pt x="368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15325" y="2809875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3D7BD9"/>
                </a:solidFill>
                <a:latin typeface="思源黑体"/>
                <a:ea typeface="思源黑体"/>
              </a:rPr>
              <a:t>架构对比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15325" y="3114675"/>
            <a:ext cx="3076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Times New Roman"/>
                <a:ea typeface="Times New Roman"/>
              </a:rPr>
              <a:t>U-Net vs Transformer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315325" y="3514725"/>
            <a:ext cx="30765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思源黑体"/>
                <a:ea typeface="思源黑体"/>
              </a:rPr>
              <a:t>同一数据、同一协议公平对照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28650" y="4743450"/>
            <a:ext cx="11049000" cy="1200150"/>
          </a:xfrm>
          <a:prstGeom prst="roundRect">
            <a:avLst>
              <a:gd name="adj" fmla="val 476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28650" y="4743450"/>
            <a:ext cx="11049000" cy="1200150"/>
          </a:xfrm>
          <a:custGeom>
            <a:pathLst>
              <a:path w="1160" h="126">
                <a:moveTo>
                  <a:pt x="6" y="126"/>
                </a:moveTo>
                <a:cubicBezTo>
                  <a:pt x="3" y="126"/>
                  <a:pt x="0" y="123"/>
                  <a:pt x="0" y="120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126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76300" y="4933950"/>
            <a:ext cx="1049655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核心结论先行：</a:t>
            </a:r>
            <a:r>
              <a:rPr lang="zh-CN" sz="1575" b="1">
                <a:solidFill>
                  <a:srgbClr val="1E4FA8"/>
                </a:solidFill>
                <a:latin typeface="思源黑体"/>
                <a:ea typeface="思源黑体"/>
              </a:rPr>
              <a:t>完整方案（</a:t>
            </a:r>
            <a:r>
              <a:rPr lang="en-US" sz="1575" b="1">
                <a:solidFill>
                  <a:srgbClr val="1E4FA8"/>
                </a:solidFill>
                <a:latin typeface="思源黑体"/>
                <a:ea typeface="思源黑体"/>
              </a:rPr>
              <a:t>MTL + SEDH + DM-Count</a:t>
            </a:r>
            <a:r>
              <a:rPr lang="zh-CN" sz="1575" b="1">
                <a:solidFill>
                  <a:srgbClr val="1E4FA8"/>
                </a:solidFill>
                <a:latin typeface="思源黑体"/>
                <a:ea typeface="思源黑体"/>
              </a:rPr>
              <a:t>）测试</a:t>
            </a:r>
            <a:r>
              <a:rPr lang="en-US" sz="1575" b="1">
                <a:solidFill>
                  <a:srgbClr val="1E4FA8"/>
                </a:solidFill>
                <a:latin typeface="思源黑体"/>
                <a:ea typeface="思源黑体"/>
              </a:rPr>
              <a:t xml:space="preserve"> MAE 5.458</a:t>
            </a: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，较基线</a:t>
            </a:r>
            <a:r>
              <a:rPr lang="en-US" sz="1575">
                <a:solidFill>
                  <a:srgbClr val="1A2230"/>
                </a:solidFill>
                <a:latin typeface="思源黑体"/>
                <a:ea typeface="思源黑体"/>
              </a:rPr>
              <a:t xml:space="preserve"> 6.666</a:t>
            </a:r>
            <a:r>
              <a:rPr lang="en-US" sz="1575" b="1">
                <a:solidFill>
                  <a:srgbClr val="D9534F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575" b="1">
                <a:solidFill>
                  <a:srgbClr val="D9534F"/>
                </a:solidFill>
                <a:latin typeface="思源黑体"/>
                <a:ea typeface="思源黑体"/>
              </a:rPr>
              <a:t>降低</a:t>
            </a:r>
            <a:r>
              <a:rPr lang="en-US" sz="1575" b="1">
                <a:solidFill>
                  <a:srgbClr val="D9534F"/>
                </a:solidFill>
                <a:latin typeface="思源黑体"/>
                <a:ea typeface="思源黑体"/>
              </a:rPr>
              <a:t xml:space="preserve"> 18.1%</a:t>
            </a: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，与论文宣称的</a:t>
            </a:r>
            <a:r>
              <a:rPr lang="en-US" sz="1575">
                <a:solidFill>
                  <a:srgbClr val="1A2230"/>
                </a:solidFill>
                <a:latin typeface="思源黑体"/>
                <a:ea typeface="思源黑体"/>
              </a:rPr>
              <a:t xml:space="preserve"> MTL </a:t>
            </a: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收益</a:t>
            </a:r>
            <a:r>
              <a:rPr lang="en-US" sz="1575">
                <a:solidFill>
                  <a:srgbClr val="1A2230"/>
                </a:solidFill>
                <a:latin typeface="思源黑体"/>
                <a:ea typeface="思源黑体"/>
              </a:rPr>
              <a:t xml:space="preserve"> 18.8% </a:t>
            </a:r>
            <a:r>
              <a:rPr lang="zh-CN" sz="1575">
                <a:solidFill>
                  <a:srgbClr val="1A2230"/>
                </a:solidFill>
                <a:latin typeface="思源黑体"/>
                <a:ea typeface="思源黑体"/>
              </a:rPr>
              <a:t>量级吻合。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三、实验与结果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09 / 13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 1280, height: 720, background: '#FFFFFF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全部实验结果对照&lt;/Text&gt;&#10;    &lt;/Box&gt;&#10;    &lt;Box style={{ position: 'absolute', top: 26, right: 60 }}&gt;&#10;        &lt;Text style={{ fontSize: 16, color: '#B9CBE8' }}&gt;300 轮完整训练 · 测试集指标&lt;/Text&gt;&#10;    &lt;/Box&gt;&#10;&#10;    {/* Hero 数字条 */}&#10;    &lt;Box style={{ position: 'absolute', top: 92, left: 60, width: 1160, height: 96, background: '#0E3F8C', borderRadius: 8, flexDirection: 'row', alignItems: 'center', padding: '0 32px' }}&gt;&#10;        &lt;Text style={{ fontSize: 44, fontWeight: 'bold', color: '#FFC107', fontFamily: 'Times New Roman, serif' }}&gt;5.458&lt;/Text&gt;&#10;        &lt;Box style={{ marginLeft: 16 }}&gt;&#10;            &lt;Text style={{ fontSize: 17, color: '#FFFFFF', lineHeight: 1.4 }}&gt;完整方案测试 MAE&lt;/Text&gt;&#10;            &lt;Text style={{ fontSize: 14, color: '#B9CBE8' }}&gt;MTL + SEDH + DM-Count&lt;/Text&gt;&#10;        &lt;/Box&gt;&#10;        &lt;Text style={{ fontSize: 30, color: '#3D7BD9', marginHorizontal: 28, fontFamily: 'Times New Roman, serif' }}&gt;vs&lt;/Text&gt;&#10;        &lt;Text style={{ fontSize: 34, fontWeight: 'bold', color: '#FFFFFF', fontFamily: 'Times New Roman, serif' }}&gt;6.666&lt;/Text&gt;&#10;        &lt;Box style={{ marginLeft: 14 }}&gt;&#10;            &lt;Text style={{ fontSize: 17, color: '#FFFFFF', lineHeight: 1.4 }}&gt;Baseline&lt;/Text&gt;&#10;        &lt;/Box&gt;&#10;        &lt;Box style={{ flex: 1 }} /&gt;&#10;        &lt;Text style={{ fontSize: 34, fontWeight: 'bold', color: '#FFC107', fontFamily: 'Times New Roman, serif' }}&gt;↓18.1%&lt;/Text&gt;&#10;    &lt;/Box&gt;&#10;&#10;    {/* 对照表 */}&#10;    &lt;Box style={{ position: 'absolute', top: 208, left: 60, width: 1160 }}&gt;&#10;        {/* 表头 */}&#10;        &lt;Box style={{ flexDirection: 'row', background: '#1E4FA8', borderRadius: '6px 6px 0 0', padding: '10px 16px' }}&gt;&#10;            &lt;Text style={{ width: 64, fontSize: 15, color: '#FFFFFF', fontWeight: 'bold' }}&gt;配置&lt;/Text&gt;&#10;            &lt;Text style={{ flex: 1, fontSize: 15, color: '#FFFFFF', fontWeight: 'bold' }}&gt;实验说明&lt;/Text&gt;&#10;            &lt;Text style={{ width: 90, fontSize: 15, color: '#FFFFFF', fontWeight: 'bold', textAlign: 'right' }}&gt;MAE&lt;/Text&gt;&#10;            &lt;Text style={{ width: 90, fontSize: 15, color: '#FFFFFF', fontWeight: 'bold', textAlign: 'right' }}&gt;RMSE&lt;/Text&gt;&#10;            &lt;Text style={{ width: 220, fontSize: 15, color: '#FFFFFF', fontWeight: 'bold' }}&gt;结论&lt;/Text&gt;&#10;        &lt;/Box&gt;&#10;        {[&#10;            { n: 'Base', d: 'ResNet18 + U-Net 密度回归基线', mae: '6.666', rmse: '10.560', c: '复现起点', best: false },&#10;            { n: '+HLFG', d: '严格按 Eq.3 加权融合（replace）', mae: '8.225', rmse: '13.015', c: '劣化：跳连被破坏', best: false },&#10;            { n: '+HLFG′', d: '改用拼接式融合（cat3，复现采用）', mae: '6.940', rmse: '10.798', c: '恢复但未超基线', best: false },&#10;            { n: '+LGFI', d: 'WMSA + 十字卷积 + MDC', mae: '8.224', rmse: '13.955', c: '劣化：适配存疑', best: false },&#10;            { n: '+MTL', d: '加三类分割头（CE+Dice）', mae: '9.947', rmse: '15.250', c: 'mIoU 89.2%，但计数劣化', best: false },&#10;            { n: 'Full', d: 'MTL + SEDH + DM-Count（核心）', mae: '5.458', rmse: '10.287', c: '最优：↓18.1% 达标', best: true },&#10;            { n: '+Aug', d: '完整方案 + 通用数据增强', mae: '32.182', rmse: '62.568', c: '已证伪：破坏任务语义', best: false },&#10;            { n: 'LGM-b', d: 'Transformer 解码器 纯密度', mae: '7.081', rmse: '11.394', c: '与 U-Net 基线相当', best: false },&#10;            { n: 'LGM-f', d: 'Transformer 完整（scale=100）', mae: '5.845', rmse: '13.171', c: 'val 3.708 → test 泛化 gap', best: false },&#10;            { n: 'LGM-s1', d: 'Transformer 完整（scale=1）', mae: '8.131', rmse: '19.067', c: '标注尺度敏感', best: false },&#10;        ].map((r, i) =&gt; (&#10;            &lt;Box key={r.n} style={{ flexDirection: 'row', alignItems: 'center', padding: '9px 16px', background: r.best ? '#0E3F8C' : (i % 2 === 0 ? '#F7F9FC' : '#FFFFFF'), borderBottom: '1px solid #D6DCE5' }}&gt;&#10;                &lt;Text style={{ width: 64, fontSize: 15, color: r.best ? '#FFC107' : '#0E3F8C', fontWeight: 'bold', fontFamily: 'Times New Roman, serif' }}&gt;{r.n}&lt;/Text&gt;&#10;                &lt;Text style={{ flex: 1, fontSize: 15, color: r.best ? '#FFFFFF' : '#1A2230' }}&gt;{r.d}&lt;/Text&gt;&#10;                &lt;Text style={{ width: 90, fontSize: 15, fontWeight: r.best ? 'bold' : 'normal', color: r.best ? '#FFC107' : '#1A2230', textAlign: 'right', fontFamily: 'Times New Roman, serif' }}&gt;{r.mae}&lt;/Text&gt;&#10;                &lt;Text style={{ width: 90, fontSize: 15, color: r.best ? '#FFFFFF' : '#4A5568', textAlign: 'right', fontFamily: 'Times New Roman, serif' }}&gt;{r.rmse}&lt;/Text&gt;&#10;                &lt;Text style={{ width: 220, fontSize: 14.5, color: r.best ? '#FFC107' : '#4A5568', paddingLeft: 14 }}&gt;{r.c}&lt;/Text&gt;&#10;            &lt;/Box&gt;&#10;        ))}&#10;    &lt;/Box&gt;&#10;&#10;    {/* 底部结论条 */}&#10;    &lt;Box style={{ position: 'absolute', bottom: 48, left: 60, width: 1160, background: '#E8EFF8', borderLeft: '6px solid #0E3F8C', borderRadius: 6, padding: '14px 24px' }}&gt;&#10;        &lt;Text style={{ fontSize: 19, color: '#1A2230', lineHeight: 1.6 }}&gt;&#10;            结论：完整方案 ↓18.1% 与论文宣称的 MTL 收益 &lt;span style={{ fontWeight: 'bold' }}&gt;18.8%&lt;/span&gt; 量级吻合——&lt;span style={{ fontWeight: 'bold', color: '#0E3F8C' }}&gt;核心命题复现成功&lt;/span&gt;；单模块（HLFG/LGFI/MTL 单独加入）在本实现下均未独立生效。&#10;        &lt;/Text&gt;&#10;    &lt;/Box&gt;&#10;&#10;    {/* C 页脚 */}&#10;    &lt;Box style={{ position: 'absolute', bottom: 16, left: 60 }}&gt;&#10;        &lt;Text style={{ fontSize: 15, color: '#8B97A8' }}&gt;论文复现 · 声呐鱼群计数&lt;/Text&gt;&#10;    &lt;/Box&gt;&#10;    &lt;Box style={{ position: 'absolute', bottom: 16, right: 60 }}&gt;&#10;        &lt;Text style={{ fontSize: 15, color: '#1E4FA8', fontWeight: 'bold', fontFamily: 'Times New Roman, serif' }}&gt;10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1752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全部实验结果对照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648825" y="247650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300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轮完整训练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测试集指标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571500" y="876300"/>
            <a:ext cx="11049000" cy="914400"/>
          </a:xfrm>
          <a:prstGeom prst="roundRect">
            <a:avLst>
              <a:gd name="adj" fmla="val 833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76300" y="1085850"/>
            <a:ext cx="9429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C107"/>
                </a:solidFill>
                <a:latin typeface="Times New Roman"/>
                <a:ea typeface="Times New Roman"/>
              </a:rPr>
              <a:t>5.458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971675" y="1114425"/>
            <a:ext cx="16668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FFFFFF"/>
                </a:solidFill>
                <a:latin typeface="思源黑体"/>
                <a:ea typeface="思源黑体"/>
              </a:rPr>
              <a:t>完整方案测试</a:t>
            </a:r>
            <a:r>
              <a:rPr lang="en-US" sz="1275">
                <a:solidFill>
                  <a:srgbClr val="FFFFFF"/>
                </a:solidFill>
                <a:latin typeface="思源黑体"/>
                <a:ea typeface="思源黑体"/>
              </a:rPr>
              <a:t xml:space="preserve"> MAE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971675" y="1390650"/>
            <a:ext cx="1666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BE8"/>
                </a:solidFill>
                <a:latin typeface="思源黑体"/>
                <a:ea typeface="思源黑体"/>
              </a:rPr>
              <a:t>MTL + SEDH + DM-Count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638550" y="1162050"/>
            <a:ext cx="257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>
                <a:solidFill>
                  <a:srgbClr val="3D7BD9"/>
                </a:solidFill>
                <a:latin typeface="Times New Roman"/>
                <a:ea typeface="Times New Roman"/>
              </a:rPr>
              <a:t>vs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895725" y="1143000"/>
            <a:ext cx="73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Times New Roman"/>
                <a:ea typeface="Times New Roman"/>
              </a:rPr>
              <a:t>6.666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762500" y="1200150"/>
            <a:ext cx="6381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FFFFFF"/>
                </a:solidFill>
                <a:latin typeface="思源黑体"/>
                <a:ea typeface="思源黑体"/>
              </a:rPr>
              <a:t>Baseline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258425" y="1143000"/>
            <a:ext cx="1057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Times New Roman"/>
                <a:ea typeface="Times New Roman"/>
              </a:rPr>
              <a:t>↓18.1%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571500" y="1981200"/>
            <a:ext cx="11049000" cy="361950"/>
          </a:xfrm>
          <a:custGeom>
            <a:pathLst>
              <a:path w="1160" h="38">
                <a:moveTo>
                  <a:pt x="6" y="0"/>
                </a:moveTo>
                <a:lnTo>
                  <a:pt x="1154" y="0"/>
                </a:lnTo>
                <a:cubicBezTo>
                  <a:pt x="1157" y="0"/>
                  <a:pt x="1160" y="3"/>
                  <a:pt x="1160" y="6"/>
                </a:cubicBezTo>
                <a:lnTo>
                  <a:pt x="1160" y="38"/>
                </a:lnTo>
                <a:lnTo>
                  <a:pt x="1160" y="38"/>
                </a:lnTo>
                <a:lnTo>
                  <a:pt x="0" y="38"/>
                </a:lnTo>
                <a:lnTo>
                  <a:pt x="0" y="38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23900" y="20764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配置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333500" y="207645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实验说明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658100" y="207645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思源黑体"/>
                <a:ea typeface="思源黑体"/>
              </a:rPr>
              <a:t>MAE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515350" y="207645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思源黑体"/>
                <a:ea typeface="思源黑体"/>
              </a:rPr>
              <a:t>RMSE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372600" y="207645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结论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2343150"/>
            <a:ext cx="11049000" cy="3524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571500" y="2343150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23900" y="242887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Base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333500" y="2428875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ResNet18 + U-Net 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密度回归基线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658100" y="242887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6.666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15350" y="242887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10.560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372600" y="2428875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复现起点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71500" y="2695575"/>
            <a:ext cx="11049000" cy="352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571500" y="2695575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23900" y="278130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+HLFG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333500" y="278130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严格按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 Eq.3 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加权融合（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>replace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658100" y="278130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8.225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515350" y="278130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13.015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9372600" y="2781300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劣化：跳连被破坏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71500" y="3048000"/>
            <a:ext cx="11049000" cy="3524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571500" y="3048000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23900" y="313372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+HLFG′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333500" y="3133725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改用拼接式融合（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>cat3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，复现采用）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658100" y="313372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6.940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515350" y="313372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10.798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372600" y="3133725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恢复但未超基线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571500" y="3400425"/>
            <a:ext cx="11049000" cy="352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571500" y="3400425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23900" y="34861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+LGFI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333500" y="348615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WMSA + 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十字卷积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 + MDC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658100" y="348615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8.224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515350" y="348615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13.955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372600" y="3486150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劣化：适配存疑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571500" y="3752850"/>
            <a:ext cx="11049000" cy="3524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571500" y="3752850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23900" y="383857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+MTL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333500" y="3838575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加三类分割头（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>CE+Dice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658100" y="383857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9.947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515350" y="383857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15.250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372600" y="3838575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4A5568"/>
                </a:solidFill>
                <a:latin typeface="思源黑体"/>
                <a:ea typeface="思源黑体"/>
              </a:rPr>
              <a:t>mIoU 89.2%</a:t>
            </a: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，但计数劣化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4105275"/>
            <a:ext cx="11049000" cy="35242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571500" y="4105275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23900" y="419100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C107"/>
                </a:solidFill>
                <a:latin typeface="Times New Roman"/>
                <a:ea typeface="Times New Roman"/>
              </a:rPr>
              <a:t>Full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333500" y="419100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思源黑体"/>
                <a:ea typeface="思源黑体"/>
              </a:rPr>
              <a:t>MTL + SEDH + DM-Count</a:t>
            </a:r>
            <a:r>
              <a:rPr lang="zh-CN" sz="1125">
                <a:solidFill>
                  <a:srgbClr val="FFFFFF"/>
                </a:solidFill>
                <a:latin typeface="思源黑体"/>
                <a:ea typeface="思源黑体"/>
              </a:rPr>
              <a:t>（核心）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658100" y="419100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FFC107"/>
                </a:solidFill>
                <a:latin typeface="Times New Roman"/>
                <a:ea typeface="Times New Roman"/>
              </a:rPr>
              <a:t>5.458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515350" y="419100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Times New Roman"/>
                <a:ea typeface="Times New Roman"/>
              </a:rPr>
              <a:t>10.287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372600" y="4191000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FFC107"/>
                </a:solidFill>
                <a:latin typeface="思源黑体"/>
                <a:ea typeface="思源黑体"/>
              </a:rPr>
              <a:t>最优：↓</a:t>
            </a:r>
            <a:r>
              <a:rPr lang="en-US" sz="1088">
                <a:solidFill>
                  <a:srgbClr val="FFC107"/>
                </a:solidFill>
                <a:latin typeface="思源黑体"/>
                <a:ea typeface="思源黑体"/>
              </a:rPr>
              <a:t xml:space="preserve">18.1% </a:t>
            </a:r>
            <a:r>
              <a:rPr lang="zh-CN" sz="1088">
                <a:solidFill>
                  <a:srgbClr val="FFC107"/>
                </a:solidFill>
                <a:latin typeface="思源黑体"/>
                <a:ea typeface="思源黑体"/>
              </a:rPr>
              <a:t>达标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71500" y="4457700"/>
            <a:ext cx="11049000" cy="3524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571500" y="4457700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23900" y="454342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+Aug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333500" y="4543425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完整方案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通用数据增强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658100" y="454342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32.182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515350" y="454342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62.568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372600" y="4543425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已证伪：破坏任务语义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71500" y="4810125"/>
            <a:ext cx="11049000" cy="352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571500" y="4810125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23900" y="48958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LGM-b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333500" y="489585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Transformer 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解码器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纯密度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658100" y="489585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7.081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515350" y="489585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11.394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372600" y="4895850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与</a:t>
            </a:r>
            <a:r>
              <a:rPr lang="en-US" sz="1088">
                <a:solidFill>
                  <a:srgbClr val="4A5568"/>
                </a:solidFill>
                <a:latin typeface="思源黑体"/>
                <a:ea typeface="思源黑体"/>
              </a:rPr>
              <a:t xml:space="preserve"> U-Net </a:t>
            </a: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基线相当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71500" y="5162550"/>
            <a:ext cx="11049000" cy="3524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571500" y="5162550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23900" y="524827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LGM-f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333500" y="5248275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Transformer 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完整（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>scale=100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658100" y="524827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5.845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515350" y="5248275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13.171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372600" y="5248275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4A5568"/>
                </a:solidFill>
                <a:latin typeface="思源黑体"/>
                <a:ea typeface="思源黑体"/>
              </a:rPr>
              <a:t xml:space="preserve">val 3.708 → test </a:t>
            </a: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泛化</a:t>
            </a:r>
            <a:r>
              <a:rPr lang="en-US" sz="1088">
                <a:solidFill>
                  <a:srgbClr val="4A5568"/>
                </a:solidFill>
                <a:latin typeface="思源黑体"/>
                <a:ea typeface="思源黑体"/>
              </a:rPr>
              <a:t xml:space="preserve"> gap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71500" y="5514975"/>
            <a:ext cx="11049000" cy="352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571500" y="5514975"/>
            <a:ext cx="11049000" cy="361950"/>
          </a:xfrm>
          <a:custGeom>
            <a:pathLst>
              <a:path w="1160" h="38">
                <a:moveTo>
                  <a:pt x="0" y="37"/>
                </a:moveTo>
                <a:lnTo>
                  <a:pt x="1160" y="37"/>
                </a:lnTo>
                <a:lnTo>
                  <a:pt x="1160" y="38"/>
                </a:lnTo>
                <a:lnTo>
                  <a:pt x="0" y="38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23900" y="560070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Times New Roman"/>
                <a:ea typeface="Times New Roman"/>
              </a:rPr>
              <a:t>LGM-s1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333500" y="560070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 xml:space="preserve">Transformer 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完整（</a:t>
            </a:r>
            <a:r>
              <a:rPr lang="en-US" sz="1125">
                <a:solidFill>
                  <a:srgbClr val="1A2230"/>
                </a:solidFill>
                <a:latin typeface="思源黑体"/>
                <a:ea typeface="思源黑体"/>
              </a:rPr>
              <a:t>scale=1</a:t>
            </a:r>
            <a:r>
              <a:rPr lang="zh-CN" sz="1125">
                <a:solidFill>
                  <a:srgbClr val="1A2230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658100" y="560070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Times New Roman"/>
                <a:ea typeface="Times New Roman"/>
              </a:rPr>
              <a:t>8.131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515350" y="5600700"/>
            <a:ext cx="8572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Times New Roman"/>
                <a:ea typeface="Times New Roman"/>
              </a:rPr>
              <a:t>19.067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372600" y="5600700"/>
            <a:ext cx="2095500" cy="171450"/>
          </a:xfrm>
          <a:prstGeom prst="rect"/>
        </p:spPr>
        <p:txBody>
          <a:bodyPr wrap="none" lIns="100013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4A5568"/>
                </a:solidFill>
                <a:latin typeface="思源黑体"/>
                <a:ea typeface="思源黑体"/>
              </a:rPr>
              <a:t>标注尺度敏感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28650" y="5438775"/>
            <a:ext cx="10991850" cy="962025"/>
          </a:xfrm>
          <a:prstGeom prst="roundRect">
            <a:avLst>
              <a:gd name="adj" fmla="val 594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628650" y="5438775"/>
            <a:ext cx="10991850" cy="962025"/>
          </a:xfrm>
          <a:custGeom>
            <a:pathLst>
              <a:path w="1154" h="101">
                <a:moveTo>
                  <a:pt x="6" y="101"/>
                </a:moveTo>
                <a:cubicBezTo>
                  <a:pt x="3" y="101"/>
                  <a:pt x="0" y="98"/>
                  <a:pt x="0" y="95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101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57250" y="5572125"/>
            <a:ext cx="10534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思源黑体"/>
                <a:ea typeface="思源黑体"/>
              </a:rPr>
              <a:t>结论：完整方案</a:t>
            </a:r>
            <a:r>
              <a:rPr lang="en-US" sz="1425">
                <a:solidFill>
                  <a:srgbClr val="1A2230"/>
                </a:solidFill>
                <a:latin typeface="思源黑体"/>
                <a:ea typeface="思源黑体"/>
              </a:rPr>
              <a:t xml:space="preserve"> ↓18.1% </a:t>
            </a:r>
            <a:r>
              <a:rPr lang="zh-CN" sz="1425">
                <a:solidFill>
                  <a:srgbClr val="1A2230"/>
                </a:solidFill>
                <a:latin typeface="思源黑体"/>
                <a:ea typeface="思源黑体"/>
              </a:rPr>
              <a:t>与论文宣称的</a:t>
            </a:r>
            <a:r>
              <a:rPr lang="en-US" sz="1425">
                <a:solidFill>
                  <a:srgbClr val="1A2230"/>
                </a:solidFill>
                <a:latin typeface="思源黑体"/>
                <a:ea typeface="思源黑体"/>
              </a:rPr>
              <a:t xml:space="preserve"> MTL </a:t>
            </a:r>
            <a:r>
              <a:rPr lang="zh-CN" sz="1425">
                <a:solidFill>
                  <a:srgbClr val="1A2230"/>
                </a:solidFill>
                <a:latin typeface="思源黑体"/>
                <a:ea typeface="思源黑体"/>
              </a:rPr>
              <a:t>收益</a:t>
            </a:r>
            <a:r>
              <a:rPr lang="en-US" sz="1425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en-US" sz="1425" b="1">
                <a:solidFill>
                  <a:srgbClr val="1A2230"/>
                </a:solidFill>
                <a:latin typeface="思源黑体"/>
                <a:ea typeface="思源黑体"/>
              </a:rPr>
              <a:t>18.8%</a:t>
            </a:r>
            <a:r>
              <a:rPr lang="en-US" sz="1425">
                <a:solidFill>
                  <a:srgbClr val="1A2230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425">
                <a:solidFill>
                  <a:srgbClr val="1A2230"/>
                </a:solidFill>
                <a:latin typeface="思源黑体"/>
                <a:ea typeface="思源黑体"/>
              </a:rPr>
              <a:t>量级吻合——</a:t>
            </a:r>
            <a:r>
              <a:rPr lang="zh-CN" sz="1425" b="1">
                <a:solidFill>
                  <a:srgbClr val="0E3F8C"/>
                </a:solidFill>
                <a:latin typeface="思源黑体"/>
                <a:ea typeface="思源黑体"/>
              </a:rPr>
              <a:t>核心命题复现成功</a:t>
            </a:r>
            <a:r>
              <a:rPr lang="zh-CN" sz="1425">
                <a:solidFill>
                  <a:srgbClr val="1A2230"/>
                </a:solidFill>
                <a:latin typeface="思源黑体"/>
                <a:ea typeface="思源黑体"/>
              </a:rPr>
              <a:t>；单模块（</a:t>
            </a:r>
            <a:r>
              <a:rPr lang="en-US" sz="1425">
                <a:solidFill>
                  <a:srgbClr val="1A2230"/>
                </a:solidFill>
                <a:latin typeface="思源黑体"/>
                <a:ea typeface="思源黑体"/>
              </a:rPr>
              <a:t xml:space="preserve">HLFG/LGFI/MTL </a:t>
            </a:r>
            <a:r>
              <a:rPr lang="zh-CN" sz="1425">
                <a:solidFill>
                  <a:srgbClr val="1A2230"/>
                </a:solidFill>
                <a:latin typeface="思源黑体"/>
                <a:ea typeface="思源黑体"/>
              </a:rPr>
              <a:t>单独加入）在本实现下均未独立生效。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71500" y="65341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220450" y="65341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10 / 13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47" name="" descr="&lt;Slide style={{ width: 1280, height: 720, background: '#F7F9FC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收敛过程对比&lt;/Text&gt;&#10;    &lt;/Box&gt;&#10;    &lt;Box style={{ position: 'absolute', top: 26, right: 60 }}&gt;&#10;        &lt;Text style={{ fontSize: 16, color: '#B9CBE8' }}&gt;验证集 MAE / RMSE 曲线&lt;/Text&gt;&#10;    &lt;/Box&gt;&#10;&#10;    {/* 顶部大图（宽幅 1690×624，通栏放置） */}&#10;    &lt;Box style={{ position: 'absolute', top: 96, left: 60, width: 1160, height: 400, background: '#FFFFFF', border: '1px solid #D6DCE5', borderRadius: 8, padding: 12 }}&gt;&#10;        &lt;Image src=&quot;assets/training_curves.png&quot; style={{ width: 1136, height: 376, objectFit: 'contain' }} /&gt;&#10;    &lt;/Box&gt;&#10;&#10;    {/* 底部三条洞察 */}&#10;    &lt;Box style={{ position: 'absolute', top: 522, left: 60, width: 1160, flexDirection: 'row', gap: 20 }}&gt;&#10;        {[&#10;            { t: '完整方案全程最低', d: '红线在 MAE 与 RMSE 两图全程最低——优势来自整条收敛轨迹，而非单点波动。' },&#10;            { t: '曲线分离明显', d: '与基线的差距从训练早期即拉开并保持，说明 SEDH 精修稳定生效，不依赖后期微调。' },&#10;            { t: '单模块曲线更高', d: 'LGFI 与 HLFG-replace 曲线明显高于基线，佐证其在当前实现适配下未生效。' },&#10;        ].map((it) =&gt; (&#10;            &lt;Box key={it.t} style={{ flex: 1, background: '#FFFFFF', border: '1px solid #D6DCE5', borderTop: '5px solid #1E4FA8', borderRadius: 8, padding: '16px 20px' }}&gt;&#10;                &lt;Text style={{ fontSize: 19, fontWeight: 'bold', color: '#0E3F8C' }}&gt;{it.t}&lt;/Text&gt;&#10;                &lt;Box style={{ height: 10 }} /&gt;&#10;                &lt;Text style={{ fontSize: 15.5, color: '#4A5568', lineHeight: 1.65 }}&gt;{it.d}&lt;/Text&gt;&#10;            &lt;/Box&gt;&#10;        ))}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11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收敛过程对比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848850" y="247650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验证集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MAE / RMSE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曲线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71500" y="914400"/>
            <a:ext cx="110490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53" name=""/>
          <p:cNvPicPr>
            <a:picLocks noChangeAspect="1"/>
          </p:cNvPicPr>
          <p:nvPr/>
        </p:nvPicPr>
        <p:blipFill>
          <a:blip r:embed="rId1"/>
          <a:srcRect l="0" t="5178" r="0" b="5178"/>
          <a:stretch>
            <a:fillRect/>
          </a:stretch>
        </p:blipFill>
        <p:spPr>
          <a:xfrm rot="0" flipH="0" flipV="0">
            <a:off x="685800" y="1028700"/>
            <a:ext cx="10820400" cy="3581400"/>
          </a:xfrm>
          <a:prstGeom prst="rect">
            <a:avLst/>
          </a:prstGeom>
          <a:ln/>
        </p:spPr>
      </p:pic>
      <p:sp>
        <p:nvSpPr>
          <p:cNvPr id="254" name=""/>
          <p:cNvSpPr/>
          <p:nvPr/>
        </p:nvSpPr>
        <p:spPr>
          <a:xfrm rot="0" flipH="0" flipV="0">
            <a:off x="571500" y="5019675"/>
            <a:ext cx="3552825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571500" y="5019675"/>
            <a:ext cx="3552825" cy="1257300"/>
          </a:xfrm>
          <a:custGeom>
            <a:pathLst>
              <a:path w="373" h="132">
                <a:moveTo>
                  <a:pt x="365" y="0"/>
                </a:moveTo>
                <a:cubicBezTo>
                  <a:pt x="369" y="0"/>
                  <a:pt x="372" y="3"/>
                  <a:pt x="373" y="7"/>
                </a:cubicBezTo>
                <a:cubicBezTo>
                  <a:pt x="372" y="6"/>
                  <a:pt x="371" y="5"/>
                  <a:pt x="370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5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62000" y="5172075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思源黑体"/>
                <a:ea typeface="思源黑体"/>
              </a:rPr>
              <a:t>完整方案全程最低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62000" y="5486400"/>
            <a:ext cx="3171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红线在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MAE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与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RMSE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两图全程最低——优势来自整条收敛轨迹，而非单点波动。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4314825" y="5019675"/>
            <a:ext cx="3562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4314825" y="5019675"/>
            <a:ext cx="3562350" cy="1257300"/>
          </a:xfrm>
          <a:custGeom>
            <a:pathLst>
              <a:path w="374" h="132">
                <a:moveTo>
                  <a:pt x="366" y="0"/>
                </a:moveTo>
                <a:cubicBezTo>
                  <a:pt x="370" y="0"/>
                  <a:pt x="373" y="3"/>
                  <a:pt x="374" y="7"/>
                </a:cubicBezTo>
                <a:cubicBezTo>
                  <a:pt x="373" y="6"/>
                  <a:pt x="372" y="5"/>
                  <a:pt x="371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6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4505325" y="5172075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思源黑体"/>
                <a:ea typeface="思源黑体"/>
              </a:rPr>
              <a:t>曲线分离明显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505325" y="5486400"/>
            <a:ext cx="3181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与基线的差距从训练早期即拉开并保持，说明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SEDH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精修稳定生效，不依赖后期微调。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8067675" y="5019675"/>
            <a:ext cx="3552825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8067675" y="5019675"/>
            <a:ext cx="3552825" cy="1257300"/>
          </a:xfrm>
          <a:custGeom>
            <a:pathLst>
              <a:path w="373" h="132">
                <a:moveTo>
                  <a:pt x="365" y="0"/>
                </a:moveTo>
                <a:cubicBezTo>
                  <a:pt x="369" y="0"/>
                  <a:pt x="372" y="3"/>
                  <a:pt x="373" y="7"/>
                </a:cubicBezTo>
                <a:cubicBezTo>
                  <a:pt x="372" y="6"/>
                  <a:pt x="371" y="5"/>
                  <a:pt x="370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5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258175" y="5172075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思源黑体"/>
                <a:ea typeface="思源黑体"/>
              </a:rPr>
              <a:t>单模块曲线更高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258175" y="5486400"/>
            <a:ext cx="3171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LGFI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与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HLFG-replace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曲线明显高于基线，佐证其在当前实现适配下未生效。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229975" y="6457950"/>
            <a:ext cx="390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11 / 13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68" name="" descr="&lt;Slide style={{ width: 1280, height: 720, background: '#F7F9FC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收敛过程对比&lt;/Text&gt;&#10;    &lt;/Box&gt;&#10;    &lt;Box style={{ position: 'absolute', top: 26, right: 60 }}&gt;&#10;        &lt;Text style={{ fontSize: 16, color: '#B9CBE8' }}&gt;验证集 MAE / RMSE 曲线&lt;/Text&gt;&#10;    &lt;/Box&gt;&#10;&#10;    {/* 顶部大图（宽幅 1690×624，通栏放置） */}&#10;    &lt;Box style={{ position: 'absolute', top: 96, left: 60, width: 1160, height: 400, background: '#FFFFFF', border: '1px solid #D6DCE5', borderRadius: 8, padding: 12 }}&gt;&#10;        &lt;Image src=&quot;assets/training_curves.png&quot; style={{ width: 1136, height: 376, objectFit: 'contain' }} /&gt;&#10;    &lt;/Box&gt;&#10;&#10;    {/* 底部三条洞察 */}&#10;    &lt;Box style={{ position: 'absolute', top: 522, left: 60, width: 1160, flexDirection: 'row', gap: 20 }}&gt;&#10;        {[&#10;            { t: '完整方案全程最低', d: '红线在 MAE 与 RMSE 两图全程最低——优势来自整条收敛轨迹，而非单点波动。' },&#10;            { t: '曲线分离明显', d: '与基线的差距从训练早期即拉开并保持，说明 SEDH 精修稳定生效，不依赖后期微调。' },&#10;            { t: '单模块曲线更高', d: 'LGFI 与 HLFG-replace 曲线明显高于基线，佐证其在当前实现适配下未生效。' },&#10;        ].map((it) =&gt; (&#10;            &lt;Box key={it.t} style={{ flex: 1, height: 168, background: '#FFFFFF', border: '1px solid #D6DCE5', borderTop: '5px solid #1E4FA8', borderRadius: 8, padding: '16px 20px' }}&gt;&#10;                &lt;Text style={{ fontSize: 19, fontWeight: 'bold', color: '#0E3F8C' }}&gt;{it.t}&lt;/Text&gt;&#10;                &lt;Box style={{ height: 10 }} /&gt;&#10;                &lt;Text style={{ fontSize: 15.5, color: '#4A5568', lineHeight: 1.65 }}&gt;{it.d}&lt;/Text&gt;&#10;            &lt;/Box&gt;&#10;        ))}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11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收敛过程对比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848850" y="247650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验证集</a:t>
            </a:r>
            <a:r>
              <a:rPr lang="en-US" sz="1200">
                <a:solidFill>
                  <a:srgbClr val="B9CBE8"/>
                </a:solidFill>
                <a:latin typeface="思源黑体"/>
                <a:ea typeface="思源黑体"/>
              </a:rPr>
              <a:t xml:space="preserve"> MAE / RMSE </a:t>
            </a: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曲线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71500" y="914400"/>
            <a:ext cx="110490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74" name=""/>
          <p:cNvPicPr>
            <a:picLocks noChangeAspect="1"/>
          </p:cNvPicPr>
          <p:nvPr/>
        </p:nvPicPr>
        <p:blipFill>
          <a:blip r:embed="rId1"/>
          <a:srcRect l="0" t="5178" r="0" b="5178"/>
          <a:stretch>
            <a:fillRect/>
          </a:stretch>
        </p:blipFill>
        <p:spPr>
          <a:xfrm rot="0" flipH="0" flipV="0">
            <a:off x="685800" y="1028700"/>
            <a:ext cx="10820400" cy="3581400"/>
          </a:xfrm>
          <a:prstGeom prst="rect">
            <a:avLst/>
          </a:prstGeom>
          <a:ln/>
        </p:spPr>
      </p:pic>
      <p:sp>
        <p:nvSpPr>
          <p:cNvPr id="275" name=""/>
          <p:cNvSpPr/>
          <p:nvPr/>
        </p:nvSpPr>
        <p:spPr>
          <a:xfrm rot="0" flipH="0" flipV="0">
            <a:off x="571500" y="5019675"/>
            <a:ext cx="3552825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571500" y="5019675"/>
            <a:ext cx="3552825" cy="1552575"/>
          </a:xfrm>
          <a:custGeom>
            <a:pathLst>
              <a:path w="373" h="163">
                <a:moveTo>
                  <a:pt x="365" y="0"/>
                </a:moveTo>
                <a:cubicBezTo>
                  <a:pt x="369" y="0"/>
                  <a:pt x="372" y="3"/>
                  <a:pt x="373" y="7"/>
                </a:cubicBezTo>
                <a:cubicBezTo>
                  <a:pt x="372" y="6"/>
                  <a:pt x="371" y="5"/>
                  <a:pt x="370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5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62000" y="5172075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思源黑体"/>
                <a:ea typeface="思源黑体"/>
              </a:rPr>
              <a:t>完整方案全程最低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62000" y="5486400"/>
            <a:ext cx="3171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红线在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MAE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与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RMSE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两图全程最低——优势来自整条收敛轨迹，而非单点波动。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4314825" y="5019675"/>
            <a:ext cx="3562350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4314825" y="5019675"/>
            <a:ext cx="3562350" cy="1552575"/>
          </a:xfrm>
          <a:custGeom>
            <a:pathLst>
              <a:path w="374" h="163">
                <a:moveTo>
                  <a:pt x="366" y="0"/>
                </a:moveTo>
                <a:cubicBezTo>
                  <a:pt x="370" y="0"/>
                  <a:pt x="373" y="3"/>
                  <a:pt x="374" y="7"/>
                </a:cubicBezTo>
                <a:cubicBezTo>
                  <a:pt x="373" y="6"/>
                  <a:pt x="372" y="5"/>
                  <a:pt x="371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6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505325" y="5172075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思源黑体"/>
                <a:ea typeface="思源黑体"/>
              </a:rPr>
              <a:t>曲线分离明显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505325" y="5486400"/>
            <a:ext cx="3181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与基线的差距从训练早期即拉开并保持，说明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SEDH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精修稳定生效，不依赖后期微调。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067675" y="5019675"/>
            <a:ext cx="3552825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8067675" y="5019675"/>
            <a:ext cx="3552825" cy="1552575"/>
          </a:xfrm>
          <a:custGeom>
            <a:pathLst>
              <a:path w="373" h="163">
                <a:moveTo>
                  <a:pt x="365" y="0"/>
                </a:moveTo>
                <a:cubicBezTo>
                  <a:pt x="369" y="0"/>
                  <a:pt x="372" y="3"/>
                  <a:pt x="373" y="7"/>
                </a:cubicBezTo>
                <a:cubicBezTo>
                  <a:pt x="372" y="6"/>
                  <a:pt x="371" y="5"/>
                  <a:pt x="370" y="5"/>
                </a:cubicBezTo>
                <a:lnTo>
                  <a:pt x="3" y="5"/>
                </a:lnTo>
                <a:cubicBezTo>
                  <a:pt x="1" y="5"/>
                  <a:pt x="0" y="6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365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258175" y="5172075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思源黑体"/>
                <a:ea typeface="思源黑体"/>
              </a:rPr>
              <a:t>单模块曲线更高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258175" y="5486400"/>
            <a:ext cx="3171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LGFI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与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HLFG-replace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曲线明显高于基线，佐证其在当前实现适配下未生效。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229975" y="6457950"/>
            <a:ext cx="390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11 / 13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89" name="" descr="&lt;Slide style={{ width: 1280, height: 720, background: '#FFFFFF', position: 'relative', overflow: 'hidden', fontFamily: '思源黑体, Microsoft YaHei, sans-serif' }}&gt;&#10;    {/* A 页眉 */}&#10;    &lt;Box style={{ position: 'absolute', top: 0, left: 0, width: 1280, height: 72, background: '#1E4FA8' }} /&gt;&#10;    &lt;Box style={{ position: 'absolute', top: 22, left: 60 }}&gt;&#10;        &lt;Text style={{ fontSize: 22, fontWeight: 'bold', color: '#FFFFFF', letterSpacing: 1 }}&gt;距离论文完整数字的三个缺口&lt;/Text&gt;&#10;    &lt;/Box&gt;&#10;    &lt;Box style={{ position: 'absolute', top: 26, right: 60 }}&gt;&#10;        &lt;Text style={{ fontSize: 16, color: '#B9CBE8' }}&gt;四、差距归因与计划&lt;/Text&gt;&#10;    &lt;/Box&gt;&#10;&#10;    {/* 左侧 Hero 数字对比 */}&#10;    &lt;Box style={{ position: 'absolute', top: 116, left: 60, width: 360, height: 500, background: '#0E3F8C', borderRadius: 8, padding: '36px 30px' }}&gt;&#10;        &lt;Text style={{ fontSize: 17, color: '#B9CBE8', letterSpacing: 1 }}&gt;复现值 vs 论文值（测试 MAE）&lt;/Text&gt;&#10;        &lt;Box style={{ height: 34 }} /&gt;&#10;        &lt;Text style={{ fontSize: 86, fontWeight: 'bold', color: '#FFC107', fontFamily: 'Times New Roman, serif', lineHeight: 1 }}&gt;5.458&lt;/Text&gt;&#10;        &lt;Box style={{ height: 10 }} /&gt;&#10;        &lt;Text style={{ fontSize: 16, color: '#B9CBE8' }}&gt;本次复现&lt;/Text&gt;&#10;        &lt;Box style={{ height: 30 }} /&gt;&#10;        &lt;Box style={{ height: 2, background: '#3D7BD9' }} /&gt;&#10;        &lt;Box style={{ height: 30 }} /&gt;&#10;        &lt;Text style={{ fontSize: 66, fontWeight: 'bold', color: '#FFFFFF', fontFamily: 'Times New Roman, serif', lineHeight: 1 }}&gt;3.22&lt;/Text&gt;&#10;        &lt;Box style={{ height: 10 }} /&gt;&#10;        &lt;Text style={{ fontSize: 16, color: '#B9CBE8' }}&gt;论文宣称（超参未公开）&lt;/Text&gt;&#10;        &lt;Box style={{ height: 36 }} /&gt;&#10;        &lt;Text style={{ fontSize: 15.5, color: '#B9CBE8', lineHeight: 1.7 }}&gt;&#10;            验证集已做到 3.708，差距主要来自&lt;br /&gt;下述三个缺口，而非方法本身。&#10;        &lt;/Text&gt;&#10;    &lt;/Box&gt;&#10;&#10;    {/* 右侧三缺口 */}&#10;    &lt;Box style={{ position: 'absolute', top: 116, left: 460, width: 760, flexDirection: 'column', gap: 18 }}&gt;&#10;        {[&#10;            { n: '缺口一', t: '多任务 Pareto 权衡', d: '实验证实：MAE 最优出现在 ep80 附近，mIoU 最优在 ep230 之后，两任务在同一网络中此消彼长。论文未公开其权衡策略（损失权重/训练阶段），需自定并实验。' },&#10;            { n: '缺口二', t: '泛化 gap（val → test）', d: '完整方案 val MAE 3.708 已接近论文 3.22，但 test 掉到 5.845——属过拟合方向。通用数据增强已实验证伪（MAE 32.18），需换任务兼容的正则手段。' },&#10;            { n: '缺口三', t: '官方超参缺失', d: '官方仓库为空，decoder 通道数、层数、损失权重、调度细节均无对照依据，系统性偏差不可避免，只能靠消融逼近。' },&#10;        ].map((it) =&gt; (&#10;            &lt;Box key={it.n} style={{ background: '#F7F9FC', border: '1px solid #D6DCE5', borderRadius: 8, padding: '18px 24px', flexDirection: 'row', gap: 20 }}&gt;&#10;                &lt;Box style={{ width: 96, flexShrink: 0, paddingTop: 4 }}&gt;&#10;                    &lt;Text style={{ fontSize: 18, fontWeight: 'bold', color: '#D9534F' }}&gt;{it.n}&lt;/Text&gt;&#10;                &lt;/Box&gt;&#10;                &lt;Box style={{ flex: 1 }}&gt;&#10;                    &lt;Text style={{ fontSize: 21, fontWeight: 'bold', color: '#1A2230' }}&gt;{it.t}&lt;/Text&gt;&#10;                    &lt;Box style={{ height: 8 }} /&gt;&#10;                    &lt;Text style={{ fontSize: 15.5, color: '#4A5568', lineHeight: 1.65 }}&gt;{it.d}&lt;/Text&gt;&#10;                &lt;/Box&gt;&#10;            &lt;/Box&gt;&#10;        ))}&#10;&#10;        {/* 底部小结 */}&#10;        &lt;Box style={{ background: '#E8EFF8', borderLeft: '6px solid #0E3F8C', borderRadius: 6, padding: '14px 22px' }}&gt;&#10;            &lt;Text style={{ fontSize: 17, color: '#1A2230', lineHeight: 1.6 }}&gt;&#10;                三个缺口都有明确归因和对应实验证据，不是&quot;跑不出来&quot;，而是&lt;span style={{ fontWeight: 'bold', color: '#0E3F8C' }}&gt;定位到了具体障碍&lt;/span&gt;。&#10;            &lt;/Text&gt;&#10;        &lt;/Box&gt;&#10;    &lt;/Box&gt;&#10;&#10;    {/* C 页脚 */}&#10;    &lt;Box style={{ position: 'absolute', bottom: 24, left: 60 }}&gt;&#10;        &lt;Text style={{ fontSize: 15, color: '#8B97A8' }}&gt;论文复现 · 声呐鱼群计数&lt;/Text&gt;&#10;    &lt;/Box&gt;&#10;    &lt;Box style={{ position: 'absolute', bottom: 24, right: 60 }}&gt;&#10;        &lt;Text style={{ fontSize: 15, color: '#1E4FA8', fontWeight: 'bold', fontFamily: 'Times New Roman, serif' }}&gt;12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2847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距离论文完整数字的三个缺口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248900" y="2476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四、差距归因与计划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571500" y="1104900"/>
            <a:ext cx="3429000" cy="4762500"/>
          </a:xfrm>
          <a:prstGeom prst="roundRect">
            <a:avLst>
              <a:gd name="adj" fmla="val 222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57250" y="14478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B9CBE8"/>
                </a:solidFill>
                <a:latin typeface="思源黑体"/>
                <a:ea typeface="思源黑体"/>
              </a:rPr>
              <a:t>复现值</a:t>
            </a:r>
            <a:r>
              <a:rPr lang="en-US" sz="1275" spc="75">
                <a:solidFill>
                  <a:srgbClr val="B9CBE8"/>
                </a:solidFill>
                <a:latin typeface="思源黑体"/>
                <a:ea typeface="思源黑体"/>
              </a:rPr>
              <a:t xml:space="preserve"> vs </a:t>
            </a:r>
            <a:r>
              <a:rPr lang="zh-CN" sz="1275" spc="75">
                <a:solidFill>
                  <a:srgbClr val="B9CBE8"/>
                </a:solidFill>
                <a:latin typeface="思源黑体"/>
                <a:ea typeface="思源黑体"/>
              </a:rPr>
              <a:t>论文值（测试</a:t>
            </a:r>
            <a:r>
              <a:rPr lang="en-US" sz="1275" spc="75">
                <a:solidFill>
                  <a:srgbClr val="B9CBE8"/>
                </a:solidFill>
                <a:latin typeface="思源黑体"/>
                <a:ea typeface="思源黑体"/>
              </a:rPr>
              <a:t xml:space="preserve"> MAE</a:t>
            </a:r>
            <a:r>
              <a:rPr lang="zh-CN" sz="1275" spc="75">
                <a:solidFill>
                  <a:srgbClr val="B9CBE8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57250" y="1971675"/>
            <a:ext cx="2857500" cy="990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450" b="1">
                <a:solidFill>
                  <a:srgbClr val="FFC107"/>
                </a:solidFill>
                <a:latin typeface="Times New Roman"/>
                <a:ea typeface="Times New Roman"/>
              </a:rPr>
              <a:t>5.458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57250" y="30575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本次复现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857250" y="3533775"/>
            <a:ext cx="28575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57250" y="3838575"/>
            <a:ext cx="28575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FFFFF"/>
                </a:solidFill>
                <a:latin typeface="Times New Roman"/>
                <a:ea typeface="Times New Roman"/>
              </a:rPr>
              <a:t>3.22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57250" y="46958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论文宣称（超参未公开）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57250" y="5229225"/>
            <a:ext cx="285750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验证集已做到</a:t>
            </a:r>
            <a:r>
              <a:rPr lang="en-US" sz="1163">
                <a:solidFill>
                  <a:srgbClr val="B9CBE8"/>
                </a:solidFill>
                <a:latin typeface="思源黑体"/>
                <a:ea typeface="思源黑体"/>
              </a:rPr>
              <a:t xml:space="preserve"> 3.708</a:t>
            </a: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，差距主要来自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下述三个缺口，而非方法本身。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381500" y="1104900"/>
            <a:ext cx="7239000" cy="125730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610100" y="13144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思源黑体"/>
                <a:ea typeface="思源黑体"/>
              </a:rPr>
              <a:t>缺口一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715000" y="127635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多任务</a:t>
            </a:r>
            <a:r>
              <a:rPr lang="en-US" sz="1575" b="1">
                <a:solidFill>
                  <a:srgbClr val="1A2230"/>
                </a:solidFill>
                <a:latin typeface="思源黑体"/>
                <a:ea typeface="思源黑体"/>
              </a:rPr>
              <a:t xml:space="preserve"> Pareto </a:t>
            </a: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权衡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715000" y="1600200"/>
            <a:ext cx="5676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实验证实：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MAE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最优出现在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ep80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附近，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mIoU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最优在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ep230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之后，两任务在同一网络中此消彼长。论文未公开其权衡策略（损失权重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/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训练阶段），需自定并实验。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381500" y="2533650"/>
            <a:ext cx="7239000" cy="125730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610100" y="27432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思源黑体"/>
                <a:ea typeface="思源黑体"/>
              </a:rPr>
              <a:t>缺口二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715000" y="270510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泛化</a:t>
            </a:r>
            <a:r>
              <a:rPr lang="en-US" sz="1575" b="1">
                <a:solidFill>
                  <a:srgbClr val="1A2230"/>
                </a:solidFill>
                <a:latin typeface="思源黑体"/>
                <a:ea typeface="思源黑体"/>
              </a:rPr>
              <a:t xml:space="preserve"> gap</a:t>
            </a: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（</a:t>
            </a:r>
            <a:r>
              <a:rPr lang="en-US" sz="1575" b="1">
                <a:solidFill>
                  <a:srgbClr val="1A2230"/>
                </a:solidFill>
                <a:latin typeface="思源黑体"/>
                <a:ea typeface="思源黑体"/>
              </a:rPr>
              <a:t>val → test</a:t>
            </a: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715000" y="3028950"/>
            <a:ext cx="5676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完整方案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val MAE 3.708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已接近论文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3.22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，但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test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掉到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5.845——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属过拟合方向。通用数据增强已实验证伪（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MAE 32.18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），需换任务兼容的正则手段。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4381500" y="3962400"/>
            <a:ext cx="7239000" cy="125730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610100" y="41719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思源黑体"/>
                <a:ea typeface="思源黑体"/>
              </a:rPr>
              <a:t>缺口三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15000" y="413385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官方超参缺失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715000" y="4457700"/>
            <a:ext cx="5676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官方仓库为空，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decoder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通道数、层数、损失权重、调度细节均无对照依据，系统性偏差不可避免，只能靠消融逼近。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438650" y="5391150"/>
            <a:ext cx="7239000" cy="581025"/>
          </a:xfrm>
          <a:prstGeom prst="roundRect">
            <a:avLst>
              <a:gd name="adj" fmla="val 983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4438650" y="5391150"/>
            <a:ext cx="7239000" cy="581025"/>
          </a:xfrm>
          <a:custGeom>
            <a:pathLst>
              <a:path w="760" h="61">
                <a:moveTo>
                  <a:pt x="6" y="61"/>
                </a:moveTo>
                <a:cubicBezTo>
                  <a:pt x="3" y="61"/>
                  <a:pt x="0" y="58"/>
                  <a:pt x="0" y="55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61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648200" y="5524500"/>
            <a:ext cx="67627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思源黑体"/>
                <a:ea typeface="思源黑体"/>
              </a:rPr>
              <a:t>三个缺口都有明确归因和对应实验证据，不是</a:t>
            </a:r>
            <a:r>
              <a:rPr lang="en-US" sz="1275">
                <a:solidFill>
                  <a:srgbClr val="1A2230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1A2230"/>
                </a:solidFill>
                <a:latin typeface="思源黑体"/>
                <a:ea typeface="思源黑体"/>
              </a:rPr>
              <a:t>跑不出来</a:t>
            </a:r>
            <a:r>
              <a:rPr lang="en-US" sz="1275">
                <a:solidFill>
                  <a:srgbClr val="1A2230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1A2230"/>
                </a:solidFill>
                <a:latin typeface="思源黑体"/>
                <a:ea typeface="思源黑体"/>
              </a:rPr>
              <a:t>，而是</a:t>
            </a:r>
            <a:r>
              <a:rPr lang="zh-CN" sz="1275" b="1">
                <a:solidFill>
                  <a:srgbClr val="0E3F8C"/>
                </a:solidFill>
                <a:latin typeface="思源黑体"/>
                <a:ea typeface="思源黑体"/>
              </a:rPr>
              <a:t>定位到了具体障碍</a:t>
            </a:r>
            <a:r>
              <a:rPr lang="zh-CN" sz="1275">
                <a:solidFill>
                  <a:srgbClr val="1A223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12 / 13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19" name="" descr="&lt;Slide style={{ width: 1280, height: 720, background: '#FFFFFF', position: 'relative', overflow: 'hidden', fontFamily: '思源黑体, Microsoft YaHei, sans-serif' }}&gt;&#13;&#10;    {/* A 页眉 */}&#13;&#10;    &lt;Box style={{ position: 'absolute', top: 0, left: 0, width: 1280, height: 72, background: '#1E4FA8' }} /&gt;&#13;&#10;    &lt;Box style={{ position: 'absolute', top: 22, left: 60 }}&gt;&#13;&#10;        &lt;Text style={{ fontSize: 22, fontWeight: 'bold', color: '#FFFFFF', letterSpacing: 1 }}&gt;距离论文完整数字的三个缺口&lt;/Text&gt;&#13;&#10;    &lt;/Box&gt;&#13;&#10;    &lt;Box style={{ position: 'absolute', top: 26, right: 60 }}&gt;&#13;&#10;        &lt;Text style={{ fontSize: 16, color: '#B9CBE8' }}&gt;四、差距归因与计划&lt;/Text&gt;&#13;&#10;    &lt;/Box&gt;&#13;&#10;&#13;&#10;    {/* 左侧 Hero 数字对比 */}&#13;&#10;    &lt;Box style={{ position: 'absolute', top: 116, left: 60, width: 360, height: 500, background: '#0E3F8C', borderRadius: 8, padding: '36px 30px' }}&gt;&#13;&#10;        &lt;Text style={{ fontSize: 17, color: '#B9CBE8', letterSpacing: 1 }}&gt;复现值 vs 论文值（测试 MAE）&lt;/Text&gt;&#13;&#10;        &lt;Box style={{ height: 34 }} /&gt;&#13;&#10;        &lt;Text style={{ fontSize: 86, fontWeight: 'bold', color: '#FFC107', fontFamily: 'Times New Roman, serif', lineHeight: 1 }}&gt;5.458&lt;/Text&gt;&#13;&#10;        &lt;Box style={{ height: 10 }} /&gt;&#13;&#10;        &lt;Text style={{ fontSize: 16, color: '#B9CBE8' }}&gt;本次复现&lt;/Text&gt;&#13;&#10;        &lt;Box style={{ height: 30 }} /&gt;&#13;&#10;        &lt;Box style={{ height: 2, background: '#3D7BD9' }} /&gt;&#13;&#10;        &lt;Box style={{ height: 30 }} /&gt;&#13;&#10;        &lt;Text style={{ fontSize: 66, fontWeight: 'bold', color: '#FFFFFF', fontFamily: 'Times New Roman, serif', lineHeight: 1 }}&gt;3.22&lt;/Text&gt;&#13;&#10;        &lt;Box style={{ height: 10 }} /&gt;&#13;&#10;        &lt;Text style={{ fontSize: 16, color: '#B9CBE8' }}&gt;论文宣称（超参未公开）&lt;/Text&gt;&#13;&#10;        &lt;Box style={{ height: 36 }} /&gt;&#13;&#10;        &lt;Text style={{ fontSize: 15.5, color: '#B9CBE8', lineHeight: 1.7 }}&gt;&#13;&#10;            验证集已做到 3.708，差距主要来自&lt;br /&gt;下述三个缺口，而非方法本身。&#13;&#10;        &lt;/Text&gt;&#13;&#10;    &lt;/Box&gt;&#13;&#10;&#13;&#10;    {/* 右侧三缺口 */}&#13;&#10;    &lt;Box style={{ position: 'absolute', top: 116, left: 460, width: 760, flexDirection: 'column', gap: 24 }}&gt;&#13;&#10;        {[&#13;&#10;            { n: '缺口一', t: '多任务 Pareto 权衡', d: '实验证实：MAE 最优出现在 ep80 附近，mIoU 最优在 ep230 之后，两任务在同一网络中此消彼长。论文未公开其权衡策略（损失权重/训练阶段），需自定并实验。' },&#13;&#10;            { n: '缺口二', t: '泛化 gap（val → test）', d: '完整方案 val MAE 3.708 已接近论文 3.22，但 test 掉到 5.845——属过拟合方向。通用数据增强已实验证伪（MAE 32.18），需换任务兼容的正则手段。' },&#13;&#10;            { n: '缺口三', t: '官方超参缺失', d: '官方仓库为空，decoder 通道数、层数、损失权重、调度细节均无对照依据，系统性偏差不可避免，只能靠消融逼近。' },&#13;&#10;        ].map((it) =&gt; (&#13;&#10;            &lt;Box key={it.n} style={{ background: '#F7F9FC', border: '1px solid #D6DCE5', borderRadius: 8, padding: '22px 24px', flexDirection: 'row', gap: 20 }}&gt;&#13;&#10;                &lt;Box style={{ width: 96, flexShrink: 0, paddingTop: 4 }}&gt;&#13;&#10;                    &lt;Text style={{ fontSize: 18, fontWeight: 'bold', color: '#D9534F' }}&gt;{it.n}&lt;/Text&gt;&#13;&#10;                &lt;/Box&gt;&#13;&#10;                &lt;Box style={{ flex: 1 }}&gt;&#13;&#10;                    &lt;Text style={{ fontSize: 21, fontWeight: 'bold', color: '#1A2230' }}&gt;{it.t}&lt;/Text&gt;&#13;&#10;                    &lt;Box style={{ height: 8 }} /&gt;&#13;&#10;                    &lt;Text style={{ fontSize: 15.5, color: '#4A5568', lineHeight: 1.65 }}&gt;{it.d}&lt;/Text&gt;&#13;&#10;                &lt;/Box&gt;&#13;&#10;            &lt;/Box&gt;&#13;&#10;        ))}&#13;&#10;&#13;&#10;        {/* 底部小结 */}&#13;&#10;        &lt;Box style={{ background: '#E8EFF8', borderLeft: '6px solid #0E3F8C', borderRadius: 6, padding: '14px 22px' }}&gt;&#13;&#10;            &lt;Text style={{ fontSize: 17, color: '#1A2230', lineHeight: 1.6 }}&gt;&#13;&#10;                三个缺口都有明确归因和对应实验证据，不是&quot;跑不出来&quot;，而是&lt;span style={{ fontWeight: 'bold', color: '#0E3F8C' }}&gt;定位到了具体障碍&lt;/span&gt;。&#13;&#10;            &lt;/Text&gt;&#13;&#10;        &lt;/Box&gt;&#13;&#10;    &lt;/Box&gt;&#13;&#10;&#13;&#10;    {/* C 页脚 */}&#13;&#10;    &lt;Box style={{ position: 'absolute', bottom: 24, left: 60 }}&gt;&#13;&#10;        &lt;Text style={{ fontSize: 15, color: '#8B97A8' }}&gt;论文复现 · 声呐鱼群计数&lt;/Text&gt;&#13;&#10;    &lt;/Box&gt;&#13;&#10;    &lt;Box style={{ position: 'absolute', bottom: 24, right: 60 }}&gt;&#13;&#10;        &lt;Text style={{ fontSize: 15, color: '#1E4FA8', fontWeight: 'bold', fontFamily: 'Times New Roman, serif' }}&gt;12 / 1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71500" y="209550"/>
            <a:ext cx="2847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FFFFFF"/>
                </a:solidFill>
                <a:latin typeface="思源黑体"/>
                <a:ea typeface="思源黑体"/>
              </a:rPr>
              <a:t>距离论文完整数字的三个缺口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0248900" y="2476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四、差距归因与计划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71500" y="1104900"/>
            <a:ext cx="3429000" cy="4762500"/>
          </a:xfrm>
          <a:prstGeom prst="roundRect">
            <a:avLst>
              <a:gd name="adj" fmla="val 222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57250" y="14478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B9CBE8"/>
                </a:solidFill>
                <a:latin typeface="思源黑体"/>
                <a:ea typeface="思源黑体"/>
              </a:rPr>
              <a:t>复现值</a:t>
            </a:r>
            <a:r>
              <a:rPr lang="en-US" sz="1275" spc="75">
                <a:solidFill>
                  <a:srgbClr val="B9CBE8"/>
                </a:solidFill>
                <a:latin typeface="思源黑体"/>
                <a:ea typeface="思源黑体"/>
              </a:rPr>
              <a:t xml:space="preserve"> vs </a:t>
            </a:r>
            <a:r>
              <a:rPr lang="zh-CN" sz="1275" spc="75">
                <a:solidFill>
                  <a:srgbClr val="B9CBE8"/>
                </a:solidFill>
                <a:latin typeface="思源黑体"/>
                <a:ea typeface="思源黑体"/>
              </a:rPr>
              <a:t>论文值（测试</a:t>
            </a:r>
            <a:r>
              <a:rPr lang="en-US" sz="1275" spc="75">
                <a:solidFill>
                  <a:srgbClr val="B9CBE8"/>
                </a:solidFill>
                <a:latin typeface="思源黑体"/>
                <a:ea typeface="思源黑体"/>
              </a:rPr>
              <a:t xml:space="preserve"> MAE</a:t>
            </a:r>
            <a:r>
              <a:rPr lang="zh-CN" sz="1275" spc="75">
                <a:solidFill>
                  <a:srgbClr val="B9CBE8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57250" y="1971675"/>
            <a:ext cx="2857500" cy="990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450" b="1">
                <a:solidFill>
                  <a:srgbClr val="FFC107"/>
                </a:solidFill>
                <a:latin typeface="Times New Roman"/>
                <a:ea typeface="Times New Roman"/>
              </a:rPr>
              <a:t>5.458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57250" y="30575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本次复现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857250" y="3533775"/>
            <a:ext cx="28575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57250" y="3838575"/>
            <a:ext cx="28575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FFFFF"/>
                </a:solidFill>
                <a:latin typeface="Times New Roman"/>
                <a:ea typeface="Times New Roman"/>
              </a:rPr>
              <a:t>3.22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57250" y="46958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E8"/>
                </a:solidFill>
                <a:latin typeface="思源黑体"/>
                <a:ea typeface="思源黑体"/>
              </a:rPr>
              <a:t>论文宣称（超参未公开）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57250" y="5229225"/>
            <a:ext cx="285750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验证集已做到</a:t>
            </a:r>
            <a:r>
              <a:rPr lang="en-US" sz="1163">
                <a:solidFill>
                  <a:srgbClr val="B9CBE8"/>
                </a:solidFill>
                <a:latin typeface="思源黑体"/>
                <a:ea typeface="思源黑体"/>
              </a:rPr>
              <a:t xml:space="preserve"> 3.708</a:t>
            </a: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，差距主要来自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下述三个缺口，而非方法本身。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381500" y="1104900"/>
            <a:ext cx="7239000" cy="133350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610100" y="13525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思源黑体"/>
                <a:ea typeface="思源黑体"/>
              </a:rPr>
              <a:t>缺口一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715000" y="131445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多任务</a:t>
            </a:r>
            <a:r>
              <a:rPr lang="en-US" sz="1575" b="1">
                <a:solidFill>
                  <a:srgbClr val="1A2230"/>
                </a:solidFill>
                <a:latin typeface="思源黑体"/>
                <a:ea typeface="思源黑体"/>
              </a:rPr>
              <a:t xml:space="preserve"> Pareto </a:t>
            </a: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权衡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715000" y="1638300"/>
            <a:ext cx="5676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实验证实：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MAE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最优出现在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ep80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附近，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mIoU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最优在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ep230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之后，两任务在同一网络中此消彼长。论文未公开其权衡策略（损失权重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/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训练阶段），需自定并实验。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381500" y="2667000"/>
            <a:ext cx="7239000" cy="133350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610100" y="29146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思源黑体"/>
                <a:ea typeface="思源黑体"/>
              </a:rPr>
              <a:t>缺口二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715000" y="287655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泛化</a:t>
            </a:r>
            <a:r>
              <a:rPr lang="en-US" sz="1575" b="1">
                <a:solidFill>
                  <a:srgbClr val="1A2230"/>
                </a:solidFill>
                <a:latin typeface="思源黑体"/>
                <a:ea typeface="思源黑体"/>
              </a:rPr>
              <a:t xml:space="preserve"> gap</a:t>
            </a: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（</a:t>
            </a:r>
            <a:r>
              <a:rPr lang="en-US" sz="1575" b="1">
                <a:solidFill>
                  <a:srgbClr val="1A2230"/>
                </a:solidFill>
                <a:latin typeface="思源黑体"/>
                <a:ea typeface="思源黑体"/>
              </a:rPr>
              <a:t>val → test</a:t>
            </a: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715000" y="3200400"/>
            <a:ext cx="5676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完整方案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val MAE 3.708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已接近论文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3.22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，但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test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掉到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 5.845——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属过拟合方向。通用数据增强已实验证伪（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>MAE 32.18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），需换任务兼容的正则手段。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381500" y="4229100"/>
            <a:ext cx="7239000" cy="133350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610100" y="44767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思源黑体"/>
                <a:ea typeface="思源黑体"/>
              </a:rPr>
              <a:t>缺口三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715000" y="443865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思源黑体"/>
                <a:ea typeface="思源黑体"/>
              </a:rPr>
              <a:t>官方超参缺失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715000" y="4762500"/>
            <a:ext cx="5676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官方仓库为空，</a:t>
            </a:r>
            <a:r>
              <a:rPr lang="en-US" sz="1163">
                <a:solidFill>
                  <a:srgbClr val="4A5568"/>
                </a:solidFill>
                <a:latin typeface="思源黑体"/>
                <a:ea typeface="思源黑体"/>
              </a:rPr>
              <a:t xml:space="preserve">decoder </a:t>
            </a:r>
            <a:r>
              <a:rPr lang="zh-CN" sz="1163">
                <a:solidFill>
                  <a:srgbClr val="4A5568"/>
                </a:solidFill>
                <a:latin typeface="思源黑体"/>
                <a:ea typeface="思源黑体"/>
              </a:rPr>
              <a:t>通道数、层数、损失权重、调度细节均无对照依据，系统性偏差不可避免，只能靠消融逼近。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4438650" y="5791200"/>
            <a:ext cx="7239000" cy="581025"/>
          </a:xfrm>
          <a:prstGeom prst="roundRect">
            <a:avLst>
              <a:gd name="adj" fmla="val 983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4438650" y="5791200"/>
            <a:ext cx="7239000" cy="581025"/>
          </a:xfrm>
          <a:custGeom>
            <a:pathLst>
              <a:path w="760" h="61">
                <a:moveTo>
                  <a:pt x="6" y="61"/>
                </a:moveTo>
                <a:cubicBezTo>
                  <a:pt x="3" y="61"/>
                  <a:pt x="0" y="58"/>
                  <a:pt x="0" y="55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61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648200" y="5924550"/>
            <a:ext cx="67627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思源黑体"/>
                <a:ea typeface="思源黑体"/>
              </a:rPr>
              <a:t>三个缺口都有明确归因和对应实验证据，不是</a:t>
            </a:r>
            <a:r>
              <a:rPr lang="en-US" sz="1275">
                <a:solidFill>
                  <a:srgbClr val="1A2230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1A2230"/>
                </a:solidFill>
                <a:latin typeface="思源黑体"/>
                <a:ea typeface="思源黑体"/>
              </a:rPr>
              <a:t>跑不出来</a:t>
            </a:r>
            <a:r>
              <a:rPr lang="en-US" sz="1275">
                <a:solidFill>
                  <a:srgbClr val="1A2230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1A2230"/>
                </a:solidFill>
                <a:latin typeface="思源黑体"/>
                <a:ea typeface="思源黑体"/>
              </a:rPr>
              <a:t>，而是</a:t>
            </a:r>
            <a:r>
              <a:rPr lang="zh-CN" sz="1275" b="1">
                <a:solidFill>
                  <a:srgbClr val="0E3F8C"/>
                </a:solidFill>
                <a:latin typeface="思源黑体"/>
                <a:ea typeface="思源黑体"/>
              </a:rPr>
              <a:t>定位到了具体障碍</a:t>
            </a:r>
            <a:r>
              <a:rPr lang="zh-CN" sz="1275">
                <a:solidFill>
                  <a:srgbClr val="1A223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B97A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Times New Roman"/>
                <a:ea typeface="Times New Roman"/>
              </a:rPr>
              <a:t>12 / 13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49" name="" descr="&lt;Slide style={{ width: 1280, height: 720, background: '#0E3F8C', position: 'relative', overflow: 'hidden', fontFamily: '思源黑体, Microsoft YaHei, sans-serif' }}&gt;&#10;    {/* 顶部装饰条 */}&#10;    &lt;Box style={{ position: 'absolute', top: 0, left: 0, width: 1280, height: 8, background: '#FFC107' }} /&gt;&#10;&#10;    {/* 左侧 65%：下一步计划 */}&#10;    &lt;Box style={{ position: 'absolute', top: 84, left: 60, width: 760 }}&gt;&#10;        &lt;Text style={{ fontSize: 40, fontWeight: 'bold', color: '#FFFFFF', lineHeight: 1.3 }}&gt;&#10;            下一步计划&#10;        &lt;/Text&gt;&#10;        &lt;Box style={{ height: 18 }} /&gt;&#10;        &lt;Box style={{ width: 80, height: 5, background: '#FFC107' }} /&gt;&#10;        &lt;Box style={{ height: 34 }} /&gt;&#10;&#10;        {/* 近期 */}&#10;        &lt;Text style={{ fontSize: 18, fontWeight: 'bold', color: '#FFC107', letterSpacing: 2 }}&gt;近期（1–2 周）&lt;/Text&gt;&#10;        &lt;Box style={{ height: 14 }} /&gt;&#10;        {[&#10;            { t: '压缩 val/test 泛化 gap', d: 'EMA 权重平均、测试时增强（TTA）——不改动数据语义的正则手段' },&#10;            { t: '补充效率指标', d: 'FPS / FLOPs / 参数量，与论文 Table VII 可比' },&#10;            { t: '绕开多任务权衡', d: '任务预训练 + 联合微调的两阶段方案，先分别收敛再联合' },&#10;        ].map((it, i) =&gt; (&#10;            &lt;Box key={it.t} style={{ flexDirection: 'row', gap: 16, marginBottom: 14, alignItems: 'flex-start' }}&gt;&#10;                &lt;Box style={{ width: 30, height: 30, borderRadius: 15, background: '#FFC107', justifyContent: 'center', alignItems: 'center', flexShrink: 0 }}&gt;&#10;                    &lt;Text style={{ fontSize: 16, fontWeight: 'bold', color: '#0E3F8C', fontFamily: 'Times New Roman, serif' }}&gt;{i + 1}&lt;/Text&gt;&#10;                &lt;/Box&gt;&#10;                &lt;Box style={{ flex: 1 }}&gt;&#10;                    &lt;Text style={{ fontSize: 20, fontWeight: 'bold', color: '#FFFFFF' }}&gt;{it.t}&lt;/Text&gt;&#10;                    &lt;Box style={{ height: 5 }} /&gt;&#10;                    &lt;Text style={{ fontSize: 15.5, color: '#B9CBE8', lineHeight: 1.55 }}&gt;{it.d}&lt;/Text&gt;&#10;                &lt;/Box&gt;&#10;            &lt;/Box&gt;&#10;        ))}&#10;&#10;        &lt;Box style={{ height: 20 }} /&gt;&#10;        &lt;Text style={{ fontSize: 18, fontWeight: 'bold', color: '#FFC107', letterSpacing: 2 }}&gt;中期（1–2 月）&lt;/Text&gt;&#10;        &lt;Box style={{ height: 14 }} /&gt;&#10;        {[&#10;            { t: '跟踪官方仓库', d: '一旦放码立即对齐超参，重跑对照' },&#10;            { t: '跨数据集泛化验证', d: '检验方法在其它声呐数据上的可迁移性' },&#10;        ].map((it, i) =&gt; (&#10;            &lt;Box key={it.t} style={{ flexDirection: 'row', gap: 16, marginBottom: 14, alignItems: 'flex-start' }}&gt;&#10;                &lt;Box style={{ width: 30, height: 30, borderRadius: 15, background: '#3D7BD9', justifyContent: 'center', alignItems: 'center', flexShrink: 0 }}&gt;&#10;                    &lt;Text style={{ fontSize: 16, fontWeight: 'bold', color: '#FFFFFF', fontFamily: 'Times New Roman, serif' }}&gt;{i + 4}&lt;/Text&gt;&#10;                &lt;/Box&gt;&#10;                &lt;Box style={{ flex: 1 }}&gt;&#10;                    &lt;Text style={{ fontSize: 20, fontWeight: 'bold', color: '#FFFFFF' }}&gt;{it.t}&lt;/Text&gt;&#10;                    &lt;Box style={{ height: 5 }} /&gt;&#10;                    &lt;Text style={{ fontSize: 15.5, color: '#B9CBE8', lineHeight: 1.55 }}&gt;{it.d}&lt;/Text&gt;&#10;                &lt;/Box&gt;&#10;            &lt;/Box&gt;&#10;        ))}&#10;    &lt;/Box&gt;&#10;&#10;    {/* 右侧 35%：结束区 */}&#10;    &lt;Box style={{ position: 'absolute', top: 84, left: 880, width: 340, height: 540, background: 'rgba(255,255,255,0.07)', border: '1px solid #3D7BD9', borderRadius: 8, padding: '32px 28px' }}&gt;&#10;        &lt;Text style={{ fontSize: 19, color: '#B9CBE8', lineHeight: 1.6 }}&gt;本次复现一句话总结&lt;/Text&gt;&#10;        &lt;Box style={{ height: 20 }} /&gt;&#10;        &lt;Text style={{ fontSize: 26, fontWeight: 'bold', color: '#FFFFFF', lineHeight: 1.6 }}&gt;&#10;            方法全部自实现，&#10;            &lt;br /&gt;&#10;            核心命题复现成立：&#10;        &lt;/Text&gt;&#10;        &lt;Box style={{ height: 18 }} /&gt;&#10;        &lt;Text style={{ fontSize: 40, fontWeight: 'bold', color: '#FFC107', fontFamily: 'Times New Roman, serif', lineHeight: 1.2 }}&gt;&#10;            MAE ↓18.1%&#10;        &lt;/Text&gt;&#10;        &lt;Box style={{ height: 26 }} /&gt;&#10;        &lt;Box style={{ height: 2, background: '#3D7BD9' }} /&gt;&#10;        &lt;Box style={{ height: 22 }} /&gt;&#10;        &lt;Text style={{ fontSize: 17, color: '#B9CBE8', lineHeight: 1.75 }}&gt;&#10;            差距有明确归因，&#10;            &lt;br /&gt;&#10;            计划有具体路径。&#10;            &lt;br /&gt;&#10;            &lt;br /&gt;&#10;            恳请老师批评指正。&#10;        &lt;/Text&gt;&#10;    &lt;/Box&gt;&#10;&#10;    {/* C 页脚 */}&#10;    &lt;Box style={{ position: 'absolute', bottom: 24, left: 60 }}&gt;&#10;        &lt;Text style={{ fontSize: 15, color: '#8FB0DC' }}&gt;论文复现 · 声呐鱼群计数&lt;/Text&gt;&#10;    &lt;/Box&gt;&#10;    &lt;Box style={{ position: 'absolute', bottom: 24, right: 60 }}&gt;&#10;        &lt;Text style={{ fontSize: 15, color: '#FFC107', fontWeight: 'bold', fontFamily: 'Times New Roman, serif' }}&gt;13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71500" y="800100"/>
            <a:ext cx="723900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下一步计划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571500" y="1571625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71500" y="1943100"/>
            <a:ext cx="723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150">
                <a:solidFill>
                  <a:srgbClr val="FFC107"/>
                </a:solidFill>
                <a:latin typeface="思源黑体"/>
                <a:ea typeface="思源黑体"/>
              </a:rPr>
              <a:t>近期（</a:t>
            </a:r>
            <a:r>
              <a:rPr lang="en-US" sz="1350" b="1" spc="150">
                <a:solidFill>
                  <a:srgbClr val="FFC107"/>
                </a:solidFill>
                <a:latin typeface="思源黑体"/>
                <a:ea typeface="思源黑体"/>
              </a:rPr>
              <a:t xml:space="preserve">1–2 </a:t>
            </a:r>
            <a:r>
              <a:rPr lang="zh-CN" sz="1350" b="1" spc="150">
                <a:solidFill>
                  <a:srgbClr val="FFC107"/>
                </a:solidFill>
                <a:latin typeface="思源黑体"/>
                <a:ea typeface="思源黑体"/>
              </a:rPr>
              <a:t>周）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571500" y="22860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76275" y="23336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Times New Roman"/>
                <a:ea typeface="Times New Roman"/>
              </a:rPr>
              <a:t>1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009650" y="2286000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压缩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 xml:space="preserve"> val/test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泛化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 xml:space="preserve"> gap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009650" y="2562225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63">
                <a:solidFill>
                  <a:srgbClr val="B9CBE8"/>
                </a:solidFill>
                <a:latin typeface="思源黑体"/>
                <a:ea typeface="思源黑体"/>
              </a:rPr>
              <a:t xml:space="preserve">EMA </a:t>
            </a: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权重平均、测试时增强（</a:t>
            </a:r>
            <a:r>
              <a:rPr lang="en-US" sz="1163">
                <a:solidFill>
                  <a:srgbClr val="B9CBE8"/>
                </a:solidFill>
                <a:latin typeface="思源黑体"/>
                <a:ea typeface="思源黑体"/>
              </a:rPr>
              <a:t>TTA</a:t>
            </a: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）——不改动数据语义的正则手段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571500" y="29718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76275" y="30194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Times New Roman"/>
                <a:ea typeface="Times New Roman"/>
              </a:rPr>
              <a:t>2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09650" y="2971800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补充效率指标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009650" y="3248025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63">
                <a:solidFill>
                  <a:srgbClr val="B9CBE8"/>
                </a:solidFill>
                <a:latin typeface="思源黑体"/>
                <a:ea typeface="思源黑体"/>
              </a:rPr>
              <a:t xml:space="preserve">FPS / FLOPs / </a:t>
            </a: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参数量，与论文</a:t>
            </a:r>
            <a:r>
              <a:rPr lang="en-US" sz="1163">
                <a:solidFill>
                  <a:srgbClr val="B9CBE8"/>
                </a:solidFill>
                <a:latin typeface="思源黑体"/>
                <a:ea typeface="思源黑体"/>
              </a:rPr>
              <a:t xml:space="preserve"> Table VII </a:t>
            </a: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可比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571500" y="36576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76275" y="37052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Times New Roman"/>
                <a:ea typeface="Times New Roman"/>
              </a:rPr>
              <a:t>3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09650" y="3657600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绕开多任务权衡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09650" y="3933825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任务预训练</a:t>
            </a:r>
            <a:r>
              <a:rPr lang="en-US" sz="1163">
                <a:solidFill>
                  <a:srgbClr val="B9CBE8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联合微调的两阶段方案，先分别收敛再联合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1500" y="4533900"/>
            <a:ext cx="723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150">
                <a:solidFill>
                  <a:srgbClr val="FFC107"/>
                </a:solidFill>
                <a:latin typeface="思源黑体"/>
                <a:ea typeface="思源黑体"/>
              </a:rPr>
              <a:t>中期（</a:t>
            </a:r>
            <a:r>
              <a:rPr lang="en-US" sz="1350" b="1" spc="150">
                <a:solidFill>
                  <a:srgbClr val="FFC107"/>
                </a:solidFill>
                <a:latin typeface="思源黑体"/>
                <a:ea typeface="思源黑体"/>
              </a:rPr>
              <a:t xml:space="preserve">1–2 </a:t>
            </a:r>
            <a:r>
              <a:rPr lang="zh-CN" sz="1350" b="1" spc="150">
                <a:solidFill>
                  <a:srgbClr val="FFC107"/>
                </a:solidFill>
                <a:latin typeface="思源黑体"/>
                <a:ea typeface="思源黑体"/>
              </a:rPr>
              <a:t>月）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571500" y="48768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76275" y="49244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09650" y="4876800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跟踪官方仓库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009650" y="5153025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一旦放码立即对齐超参，重跑对照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571500" y="55626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76275" y="56102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009650" y="5562600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跨数据集泛化验证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009650" y="5838825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B9CBE8"/>
                </a:solidFill>
                <a:latin typeface="思源黑体"/>
                <a:ea typeface="思源黑体"/>
              </a:rPr>
              <a:t>检验方法在其它声呐数据上的可迁移性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8382000" y="800100"/>
            <a:ext cx="3238500" cy="5143500"/>
          </a:xfrm>
          <a:prstGeom prst="roundRect">
            <a:avLst>
              <a:gd name="adj" fmla="val 235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648700" y="1104900"/>
            <a:ext cx="27051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B9CBE8"/>
                </a:solidFill>
                <a:latin typeface="思源黑体"/>
                <a:ea typeface="思源黑体"/>
              </a:rPr>
              <a:t>本次复现一句话总结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648700" y="1647825"/>
            <a:ext cx="2705100" cy="9525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950" b="1">
                <a:solidFill>
                  <a:srgbClr val="FFFFFF"/>
                </a:solidFill>
                <a:latin typeface="思源黑体"/>
                <a:ea typeface="思源黑体"/>
              </a:rPr>
              <a:t>方法全部自实现，</a:t>
            </a:r>
            <a:endParaRPr/>
          </a:p>
          <a:p>
            <a:pPr>
              <a:lnSpc>
                <a:spcPct val="160000"/>
              </a:lnSpc>
            </a:pPr>
            <a:r>
              <a:rPr lang="zh-CN" sz="1950" b="1">
                <a:solidFill>
                  <a:srgbClr val="FFFFFF"/>
                </a:solidFill>
                <a:latin typeface="思源黑体"/>
                <a:ea typeface="思源黑体"/>
              </a:rPr>
              <a:t>核心命题复现成立：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648700" y="2771775"/>
            <a:ext cx="27051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C107"/>
                </a:solidFill>
                <a:latin typeface="Times New Roman"/>
                <a:ea typeface="Times New Roman"/>
              </a:rPr>
              <a:t>MAE ↓18.1%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8648700" y="3571875"/>
            <a:ext cx="27051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648700" y="3800475"/>
            <a:ext cx="2705100" cy="13620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B9CBE8"/>
                </a:solidFill>
                <a:latin typeface="思源黑体"/>
                <a:ea typeface="思源黑体"/>
              </a:rPr>
              <a:t>差距有明确归因，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B9CBE8"/>
                </a:solidFill>
                <a:latin typeface="思源黑体"/>
                <a:ea typeface="思源黑体"/>
              </a:rPr>
              <a:t>计划有具体路径。</a:t>
            </a:r>
            <a:endParaRPr/>
          </a:p>
          <a:p>
            <a:pPr>
              <a:lnSpc>
                <a:spcPct val="175000"/>
              </a:lnSpc>
            </a:pPr>
            <a:r>
              <a:rPr sz="1275">
                <a:solidFill>
                  <a:srgbClr val="B9CBE8"/>
                </a:solidFill>
                <a:latin typeface="思源黑体"/>
                <a:ea typeface="思源黑体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B9CBE8"/>
                </a:solidFill>
                <a:latin typeface="思源黑体"/>
                <a:ea typeface="思源黑体"/>
              </a:rPr>
              <a:t>恳请老师批评指正。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71500" y="64579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0DC"/>
                </a:solidFill>
                <a:latin typeface="思源黑体"/>
                <a:ea typeface="思源黑体"/>
              </a:rPr>
              <a:t>论文复现</a:t>
            </a:r>
            <a:r>
              <a:rPr lang="en-US" sz="1125">
                <a:solidFill>
                  <a:srgbClr val="8FB0DC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125">
                <a:solidFill>
                  <a:srgbClr val="8FB0DC"/>
                </a:solidFill>
                <a:latin typeface="思源黑体"/>
                <a:ea typeface="思源黑体"/>
              </a:rPr>
              <a:t>声呐鱼群计数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220450" y="64579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C107"/>
                </a:solidFill>
                <a:latin typeface="Times New Roman"/>
                <a:ea typeface="Times New Roman"/>
              </a:rPr>
              <a:t>13 / 13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2026-10-15T18:58:21Z</dcterms:created>
  <dcterms:modified xsi:type="dcterms:W3CDTF">2026-10-15T18:58:21Z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{"AIGC":{"Label":"1","ContentProducer":"00119111010856365494821B355","ProduceID":"01a13f24743f73e1b3e2497cf26acb5c","ReservedCode1":"","ContentPropagator":"00119111010856365494821B355","PropagateID":"01a13f24743f73e1b3e2497cf26acb5c","ReservedCode2":""}}</vt:lpwstr>
  </property>
</Properties>
</file>